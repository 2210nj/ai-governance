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32bbf37-fa8b-63fe-e637-2f3df7e6ff66}">
          <p14:sldIdLst>
            <p14:sldId id="256"/>
          </p14:sldIdLst>
        </p14:section>
        <p14:section name="Translate" id="{78083ca4-5ecf-80de-736b-1a22450ad026}">
          <p14:sldIdLst>
            <p14:sldId id="257"/>
            <p14:sldId id="258"/>
            <p14:sldId id="259"/>
          </p14:sldIdLst>
        </p14:section>
        <p14:section name="Implement" id="{a21efd4d-4a39-bb98-182e-4510c0177436}">
          <p14:sldIdLst>
            <p14:sldId id="260"/>
            <p14:sldId id="261"/>
            <p14:sldId id="262"/>
          </p14:sldIdLst>
        </p14:section>
        <p14:section name="Close" id="{810f0104-07b0-f942-2609-4756d7615bdb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914400"/>
            <a:ext cx="89611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From AI Governance Principles to Engineering Controls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1"/>
          <p:cNvSpPr txBox="1"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AI GOVERNANCE &amp; ENGINEERING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914400"/>
            <a:ext cx="8961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From AI Governance Principles to Engineering Controls</a:t>
            </a:r>
            <a:endParaRPr lang="en-US" sz="4000" dirty="0"/>
          </a:p>
        </p:txBody>
      </p:sp>
      <p:sp>
        <p:nvSpPr>
          <p:cNvPr id="4" name="Question"/>
          <p:cNvSpPr txBox="1"/>
          <p:nvPr/>
        </p:nvSpPr>
        <p:spPr>
          <a:xfrm>
            <a:off x="548640" y="28346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3"/>
                </a:solidFill>
              </a:rPr>
              <a:t>How do you translate the EU AI Act and NIST AI RMF into actionable architecture standards for engineering teams?</a:t>
            </a:r>
            <a:endParaRPr lang="en-US" sz="2000" dirty="0"/>
          </a:p>
        </p:txBody>
      </p:sp>
      <p:sp>
        <p:nvSpPr>
          <p:cNvPr id="5" name="Label 2"/>
          <p:cNvSpPr txBox="1"/>
          <p:nvPr/>
        </p:nvSpPr>
        <p:spPr>
          <a:xfrm>
            <a:off x="5486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MY APPROACH</a:t>
            </a:r>
            <a:endParaRPr lang="en-US" sz="1200" dirty="0"/>
          </a:p>
        </p:txBody>
      </p:sp>
      <p:sp>
        <p:nvSpPr>
          <p:cNvPr id="6" name="Label 3"/>
          <p:cNvSpPr txBox="1"/>
          <p:nvPr/>
        </p:nvSpPr>
        <p:spPr>
          <a:xfrm>
            <a:off x="54864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THE QUESTION</a:t>
            </a:r>
            <a:endParaRPr lang="en-US" sz="1200" dirty="0"/>
          </a:p>
        </p:txBody>
      </p:sp>
      <p:sp>
        <p:nvSpPr>
          <p:cNvPr id="7" name="Pill 4"/>
          <p:cNvSpPr txBox="1"/>
          <p:nvPr/>
        </p:nvSpPr>
        <p:spPr>
          <a:xfrm>
            <a:off x="548640" y="4297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Principle</a:t>
            </a:r>
            <a:endParaRPr lang="en-US" sz="1400" dirty="0"/>
          </a:p>
        </p:txBody>
      </p:sp>
      <p:sp>
        <p:nvSpPr>
          <p:cNvPr id="8" name="Arrow 5"/>
          <p:cNvSpPr/>
          <p:nvPr/>
        </p:nvSpPr>
        <p:spPr>
          <a:xfrm>
            <a:off x="2148840" y="468630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Pill 6"/>
          <p:cNvSpPr txBox="1"/>
          <p:nvPr/>
        </p:nvSpPr>
        <p:spPr>
          <a:xfrm>
            <a:off x="2450592" y="4297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Risk</a:t>
            </a:r>
            <a:endParaRPr lang="en-US" sz="1400" dirty="0"/>
          </a:p>
        </p:txBody>
      </p:sp>
      <p:sp>
        <p:nvSpPr>
          <p:cNvPr id="10" name="Arrow 7"/>
          <p:cNvSpPr/>
          <p:nvPr/>
        </p:nvSpPr>
        <p:spPr>
          <a:xfrm>
            <a:off x="4050792" y="468630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Pill 8"/>
          <p:cNvSpPr txBox="1"/>
          <p:nvPr/>
        </p:nvSpPr>
        <p:spPr>
          <a:xfrm>
            <a:off x="4352544" y="4297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</a:t>
            </a:r>
            <a:endParaRPr lang="en-US" sz="1400" dirty="0"/>
          </a:p>
        </p:txBody>
      </p:sp>
      <p:sp>
        <p:nvSpPr>
          <p:cNvPr id="12" name="Arrow 9"/>
          <p:cNvSpPr/>
          <p:nvPr/>
        </p:nvSpPr>
        <p:spPr>
          <a:xfrm>
            <a:off x="5952744" y="468630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Pill 10"/>
          <p:cNvSpPr txBox="1"/>
          <p:nvPr/>
        </p:nvSpPr>
        <p:spPr>
          <a:xfrm>
            <a:off x="6254496" y="4297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Technical Requirement</a:t>
            </a:r>
            <a:endParaRPr lang="en-US" sz="1400" dirty="0"/>
          </a:p>
        </p:txBody>
      </p:sp>
      <p:sp>
        <p:nvSpPr>
          <p:cNvPr id="14" name="Arrow 11"/>
          <p:cNvSpPr/>
          <p:nvPr/>
        </p:nvSpPr>
        <p:spPr>
          <a:xfrm>
            <a:off x="7854696" y="468630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Pill 12"/>
          <p:cNvSpPr txBox="1"/>
          <p:nvPr/>
        </p:nvSpPr>
        <p:spPr>
          <a:xfrm>
            <a:off x="8156448" y="4297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Evidence</a:t>
            </a:r>
            <a:endParaRPr lang="en-US" sz="1400" dirty="0"/>
          </a:p>
        </p:txBody>
      </p:sp>
      <p:sp>
        <p:nvSpPr>
          <p:cNvPr id="16" name="Arrow 13"/>
          <p:cNvSpPr/>
          <p:nvPr/>
        </p:nvSpPr>
        <p:spPr>
          <a:xfrm>
            <a:off x="9756648" y="468630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Pill 14"/>
          <p:cNvSpPr txBox="1"/>
          <p:nvPr/>
        </p:nvSpPr>
        <p:spPr>
          <a:xfrm>
            <a:off x="10058400" y="4297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Owner</a:t>
            </a:r>
            <a:endParaRPr lang="en-US" sz="1400" dirty="0"/>
          </a:p>
        </p:txBody>
      </p:sp>
      <p:sp>
        <p:nvSpPr>
          <p:cNvPr id="18" name="Objective"/>
          <p:cNvSpPr txBox="1"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objective is not to create compliance documentation. </a:t>
            </a:r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It is to create repeatable, testable controls that engineering teams can implement throughout the AI lifecycle.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Start With Risk, Not Regulation</a:t>
            </a:r>
            <a:endParaRPr lang="en-US" sz="36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I begin by understanding the AI use case and its risk profile. For each use case, I assess:</a:t>
            </a:r>
            <a:endParaRPr lang="en-US" sz="1600" dirty="0"/>
          </a:p>
        </p:txBody>
      </p:sp>
      <p:sp>
        <p:nvSpPr>
          <p:cNvPr id="4" name="Dimension card 15"/>
          <p:cNvSpPr/>
          <p:nvPr/>
        </p:nvSpPr>
        <p:spPr>
          <a:xfrm>
            <a:off x="548640" y="169164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Icon circle 16"/>
          <p:cNvSpPr/>
          <p:nvPr/>
        </p:nvSpPr>
        <p:spPr>
          <a:xfrm>
            <a:off x="658368" y="198882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Icon 1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2089404"/>
            <a:ext cx="201168" cy="201168"/>
          </a:xfrm>
          <a:prstGeom prst="rect">
            <a:avLst/>
          </a:prstGeom>
        </p:spPr>
      </p:pic>
      <p:sp>
        <p:nvSpPr>
          <p:cNvPr id="7" name="Dimension text 18"/>
          <p:cNvSpPr txBox="1"/>
          <p:nvPr/>
        </p:nvSpPr>
        <p:spPr>
          <a:xfrm>
            <a:off x="1170432" y="17373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Intended purpose and users</a:t>
            </a:r>
            <a:endParaRPr lang="en-US" sz="1400" dirty="0"/>
          </a:p>
        </p:txBody>
      </p:sp>
      <p:sp>
        <p:nvSpPr>
          <p:cNvPr id="8" name="Dimension card 19"/>
          <p:cNvSpPr/>
          <p:nvPr/>
        </p:nvSpPr>
        <p:spPr>
          <a:xfrm>
            <a:off x="2926080" y="169164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Icon circle 20"/>
          <p:cNvSpPr/>
          <p:nvPr/>
        </p:nvSpPr>
        <p:spPr>
          <a:xfrm>
            <a:off x="3035808" y="198882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Icon 2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964" y="2089404"/>
            <a:ext cx="201168" cy="201168"/>
          </a:xfrm>
          <a:prstGeom prst="rect">
            <a:avLst/>
          </a:prstGeom>
        </p:spPr>
      </p:pic>
      <p:sp>
        <p:nvSpPr>
          <p:cNvPr id="11" name="Dimension text 22"/>
          <p:cNvSpPr txBox="1"/>
          <p:nvPr/>
        </p:nvSpPr>
        <p:spPr>
          <a:xfrm>
            <a:off x="3547872" y="17373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system capabilities</a:t>
            </a:r>
            <a:endParaRPr lang="en-US" sz="1400" dirty="0"/>
          </a:p>
        </p:txBody>
      </p:sp>
      <p:sp>
        <p:nvSpPr>
          <p:cNvPr id="12" name="Dimension card 23"/>
          <p:cNvSpPr/>
          <p:nvPr/>
        </p:nvSpPr>
        <p:spPr>
          <a:xfrm>
            <a:off x="5303520" y="169164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Icon circle 24"/>
          <p:cNvSpPr/>
          <p:nvPr/>
        </p:nvSpPr>
        <p:spPr>
          <a:xfrm>
            <a:off x="5413248" y="198882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4" name="Icon 2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404" y="2089404"/>
            <a:ext cx="201168" cy="201168"/>
          </a:xfrm>
          <a:prstGeom prst="rect">
            <a:avLst/>
          </a:prstGeom>
        </p:spPr>
      </p:pic>
      <p:sp>
        <p:nvSpPr>
          <p:cNvPr id="15" name="Dimension text 26"/>
          <p:cNvSpPr txBox="1"/>
          <p:nvPr/>
        </p:nvSpPr>
        <p:spPr>
          <a:xfrm>
            <a:off x="5925312" y="17373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sensitivity and provenance</a:t>
            </a:r>
            <a:endParaRPr lang="en-US" sz="1400" dirty="0"/>
          </a:p>
        </p:txBody>
      </p:sp>
      <p:sp>
        <p:nvSpPr>
          <p:cNvPr id="16" name="Dimension card 27"/>
          <p:cNvSpPr/>
          <p:nvPr/>
        </p:nvSpPr>
        <p:spPr>
          <a:xfrm>
            <a:off x="548640" y="288036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Icon circle 28"/>
          <p:cNvSpPr/>
          <p:nvPr/>
        </p:nvSpPr>
        <p:spPr>
          <a:xfrm>
            <a:off x="658368" y="317754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Icon 2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3278124"/>
            <a:ext cx="201168" cy="201168"/>
          </a:xfrm>
          <a:prstGeom prst="rect">
            <a:avLst/>
          </a:prstGeom>
        </p:spPr>
      </p:pic>
      <p:sp>
        <p:nvSpPr>
          <p:cNvPr id="19" name="Dimension text 30"/>
          <p:cNvSpPr txBox="1"/>
          <p:nvPr/>
        </p:nvSpPr>
        <p:spPr>
          <a:xfrm>
            <a:off x="1170432" y="29260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Potential impact on individuals or business</a:t>
            </a:r>
            <a:endParaRPr lang="en-US" sz="1400" dirty="0"/>
          </a:p>
        </p:txBody>
      </p:sp>
      <p:sp>
        <p:nvSpPr>
          <p:cNvPr id="20" name="Dimension card 31"/>
          <p:cNvSpPr/>
          <p:nvPr/>
        </p:nvSpPr>
        <p:spPr>
          <a:xfrm>
            <a:off x="2926080" y="288036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Icon circle 32"/>
          <p:cNvSpPr/>
          <p:nvPr/>
        </p:nvSpPr>
        <p:spPr>
          <a:xfrm>
            <a:off x="3035808" y="317754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2" name="Icon 3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0964" y="3278124"/>
            <a:ext cx="201168" cy="201168"/>
          </a:xfrm>
          <a:prstGeom prst="rect">
            <a:avLst/>
          </a:prstGeom>
        </p:spPr>
      </p:pic>
      <p:sp>
        <p:nvSpPr>
          <p:cNvPr id="23" name="Dimension text 34"/>
          <p:cNvSpPr txBox="1"/>
          <p:nvPr/>
        </p:nvSpPr>
        <p:spPr>
          <a:xfrm>
            <a:off x="3547872" y="29260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Security and misuse risks</a:t>
            </a:r>
            <a:endParaRPr lang="en-US" sz="1400" dirty="0"/>
          </a:p>
        </p:txBody>
      </p:sp>
      <p:sp>
        <p:nvSpPr>
          <p:cNvPr id="24" name="Dimension card 35"/>
          <p:cNvSpPr/>
          <p:nvPr/>
        </p:nvSpPr>
        <p:spPr>
          <a:xfrm>
            <a:off x="5303520" y="288036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Icon circle 36"/>
          <p:cNvSpPr/>
          <p:nvPr/>
        </p:nvSpPr>
        <p:spPr>
          <a:xfrm>
            <a:off x="5413248" y="317754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6" name="Icon 3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8404" y="3278124"/>
            <a:ext cx="201168" cy="201168"/>
          </a:xfrm>
          <a:prstGeom prst="rect">
            <a:avLst/>
          </a:prstGeom>
        </p:spPr>
      </p:pic>
      <p:sp>
        <p:nvSpPr>
          <p:cNvPr id="27" name="Dimension text 38"/>
          <p:cNvSpPr txBox="1"/>
          <p:nvPr/>
        </p:nvSpPr>
        <p:spPr>
          <a:xfrm>
            <a:off x="5925312" y="29260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Bias and discrimination risks</a:t>
            </a:r>
            <a:endParaRPr lang="en-US" sz="1400" dirty="0"/>
          </a:p>
        </p:txBody>
      </p:sp>
      <p:sp>
        <p:nvSpPr>
          <p:cNvPr id="28" name="Dimension card 39"/>
          <p:cNvSpPr/>
          <p:nvPr/>
        </p:nvSpPr>
        <p:spPr>
          <a:xfrm>
            <a:off x="548640" y="406908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9" name="Icon circle 40"/>
          <p:cNvSpPr/>
          <p:nvPr/>
        </p:nvSpPr>
        <p:spPr>
          <a:xfrm>
            <a:off x="658368" y="436626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0" name="Icon 4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" y="4466844"/>
            <a:ext cx="201168" cy="201168"/>
          </a:xfrm>
          <a:prstGeom prst="rect">
            <a:avLst/>
          </a:prstGeom>
        </p:spPr>
      </p:pic>
      <p:sp>
        <p:nvSpPr>
          <p:cNvPr id="31" name="Dimension text 42"/>
          <p:cNvSpPr txBox="1"/>
          <p:nvPr/>
        </p:nvSpPr>
        <p:spPr>
          <a:xfrm>
            <a:off x="1170432" y="41148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Reliability and accuracy requirements</a:t>
            </a:r>
            <a:endParaRPr lang="en-US" sz="1400" dirty="0"/>
          </a:p>
        </p:txBody>
      </p:sp>
      <p:sp>
        <p:nvSpPr>
          <p:cNvPr id="32" name="Dimension card 43"/>
          <p:cNvSpPr/>
          <p:nvPr/>
        </p:nvSpPr>
        <p:spPr>
          <a:xfrm>
            <a:off x="2926080" y="406908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3" name="Icon circle 44"/>
          <p:cNvSpPr/>
          <p:nvPr/>
        </p:nvSpPr>
        <p:spPr>
          <a:xfrm>
            <a:off x="3035808" y="436626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4" name="Icon 4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0964" y="4466844"/>
            <a:ext cx="201168" cy="201168"/>
          </a:xfrm>
          <a:prstGeom prst="rect">
            <a:avLst/>
          </a:prstGeom>
        </p:spPr>
      </p:pic>
      <p:sp>
        <p:nvSpPr>
          <p:cNvPr id="35" name="Dimension text 46"/>
          <p:cNvSpPr txBox="1"/>
          <p:nvPr/>
        </p:nvSpPr>
        <p:spPr>
          <a:xfrm>
            <a:off x="3547872" y="41148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Human oversight requirements</a:t>
            </a:r>
            <a:endParaRPr lang="en-US" sz="1400" dirty="0"/>
          </a:p>
        </p:txBody>
      </p:sp>
      <p:sp>
        <p:nvSpPr>
          <p:cNvPr id="36" name="Dimension card 47"/>
          <p:cNvSpPr/>
          <p:nvPr/>
        </p:nvSpPr>
        <p:spPr>
          <a:xfrm>
            <a:off x="5303520" y="406908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7" name="Icon circle 48"/>
          <p:cNvSpPr/>
          <p:nvPr/>
        </p:nvSpPr>
        <p:spPr>
          <a:xfrm>
            <a:off x="5413248" y="436626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8" name="Icon 4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8404" y="4466844"/>
            <a:ext cx="201168" cy="201168"/>
          </a:xfrm>
          <a:prstGeom prst="rect">
            <a:avLst/>
          </a:prstGeom>
        </p:spPr>
      </p:pic>
      <p:sp>
        <p:nvSpPr>
          <p:cNvPr id="39" name="Dimension text 50"/>
          <p:cNvSpPr txBox="1"/>
          <p:nvPr/>
        </p:nvSpPr>
        <p:spPr>
          <a:xfrm>
            <a:off x="5925312" y="41148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Applicable regulatory obligations</a:t>
            </a:r>
            <a:endParaRPr lang="en-US" sz="1400" dirty="0"/>
          </a:p>
        </p:txBody>
      </p:sp>
      <p:sp>
        <p:nvSpPr>
          <p:cNvPr id="40" name="Risk output"/>
          <p:cNvSpPr txBox="1"/>
          <p:nvPr/>
        </p:nvSpPr>
        <p:spPr>
          <a:xfrm>
            <a:off x="548640" y="5349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This produces a risk classification and control profile for the use case.</a:t>
            </a:r>
            <a:endParaRPr lang="en-US" sz="1600" dirty="0"/>
          </a:p>
        </p:txBody>
      </p:sp>
      <p:sp>
        <p:nvSpPr>
          <p:cNvPr id="41" name="Risk driver note"/>
          <p:cNvSpPr txBox="1"/>
          <p:nvPr/>
        </p:nvSpPr>
        <p:spPr>
          <a:xfrm>
            <a:off x="548640" y="5806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These risks then drive the controls required during architecture and delivery.</a:t>
            </a:r>
            <a:endParaRPr lang="en-US" sz="1400" dirty="0"/>
          </a:p>
        </p:txBody>
      </p:sp>
      <p:sp>
        <p:nvSpPr>
          <p:cNvPr id="42" name="Example card"/>
          <p:cNvSpPr/>
          <p:nvPr/>
        </p:nvSpPr>
        <p:spPr>
          <a:xfrm>
            <a:off x="7818120" y="1691640"/>
            <a:ext cx="3822192" cy="4480560"/>
          </a:xfrm>
          <a:prstGeom prst="roundRect">
            <a:avLst>
              <a:gd name="adj" fmla="val 287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3" name="Label 51"/>
          <p:cNvSpPr txBox="1"/>
          <p:nvPr/>
        </p:nvSpPr>
        <p:spPr>
          <a:xfrm>
            <a:off x="80924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EXAMPLE</a:t>
            </a:r>
            <a:endParaRPr lang="en-US" sz="1200" dirty="0"/>
          </a:p>
        </p:txBody>
      </p:sp>
      <p:sp>
        <p:nvSpPr>
          <p:cNvPr id="44" name="Example name"/>
          <p:cNvSpPr txBox="1"/>
          <p:nvPr/>
        </p:nvSpPr>
        <p:spPr>
          <a:xfrm>
            <a:off x="8092440" y="2194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AI-powered candidate ranking</a:t>
            </a:r>
            <a:endParaRPr lang="en-US" sz="2000" dirty="0"/>
          </a:p>
        </p:txBody>
      </p:sp>
      <p:sp>
        <p:nvSpPr>
          <p:cNvPr id="45" name="Example risks label"/>
          <p:cNvSpPr txBox="1"/>
          <p:nvPr/>
        </p:nvSpPr>
        <p:spPr>
          <a:xfrm>
            <a:off x="809244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Potential risks:</a:t>
            </a:r>
            <a:endParaRPr lang="en-US" sz="1400" dirty="0"/>
          </a:p>
        </p:txBody>
      </p:sp>
      <p:sp>
        <p:nvSpPr>
          <p:cNvPr id="46" name="Pill 52"/>
          <p:cNvSpPr txBox="1"/>
          <p:nvPr/>
        </p:nvSpPr>
        <p:spPr>
          <a:xfrm>
            <a:off x="8092440" y="3337560"/>
            <a:ext cx="32918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Bias</a:t>
            </a:r>
            <a:endParaRPr lang="en-US" sz="1400" dirty="0"/>
          </a:p>
        </p:txBody>
      </p:sp>
      <p:sp>
        <p:nvSpPr>
          <p:cNvPr id="47" name="Arrow 53"/>
          <p:cNvSpPr/>
          <p:nvPr/>
        </p:nvSpPr>
        <p:spPr>
          <a:xfrm>
            <a:off x="9738360" y="3739896"/>
            <a:ext cx="0" cy="14630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8" name="Pill 54"/>
          <p:cNvSpPr txBox="1"/>
          <p:nvPr/>
        </p:nvSpPr>
        <p:spPr>
          <a:xfrm>
            <a:off x="8092440" y="3904488"/>
            <a:ext cx="32918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Privacy</a:t>
            </a:r>
            <a:endParaRPr lang="en-US" sz="1400" dirty="0"/>
          </a:p>
        </p:txBody>
      </p:sp>
      <p:sp>
        <p:nvSpPr>
          <p:cNvPr id="49" name="Arrow 55"/>
          <p:cNvSpPr/>
          <p:nvPr/>
        </p:nvSpPr>
        <p:spPr>
          <a:xfrm>
            <a:off x="9738360" y="4306824"/>
            <a:ext cx="0" cy="14630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0" name="Pill 56"/>
          <p:cNvSpPr txBox="1"/>
          <p:nvPr/>
        </p:nvSpPr>
        <p:spPr>
          <a:xfrm>
            <a:off x="8092440" y="4471416"/>
            <a:ext cx="32918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Explainability</a:t>
            </a:r>
            <a:endParaRPr lang="en-US" sz="1400" dirty="0"/>
          </a:p>
        </p:txBody>
      </p:sp>
      <p:sp>
        <p:nvSpPr>
          <p:cNvPr id="51" name="Arrow 57"/>
          <p:cNvSpPr/>
          <p:nvPr/>
        </p:nvSpPr>
        <p:spPr>
          <a:xfrm>
            <a:off x="9738360" y="4873752"/>
            <a:ext cx="0" cy="14630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2" name="Pill 58"/>
          <p:cNvSpPr txBox="1"/>
          <p:nvPr/>
        </p:nvSpPr>
        <p:spPr>
          <a:xfrm>
            <a:off x="8092440" y="5038344"/>
            <a:ext cx="32918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Accuracy</a:t>
            </a:r>
            <a:endParaRPr lang="en-US" sz="1400" dirty="0"/>
          </a:p>
        </p:txBody>
      </p:sp>
      <p:sp>
        <p:nvSpPr>
          <p:cNvPr id="53" name="Arrow 59"/>
          <p:cNvSpPr/>
          <p:nvPr/>
        </p:nvSpPr>
        <p:spPr>
          <a:xfrm>
            <a:off x="9738360" y="5440680"/>
            <a:ext cx="0" cy="14630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4" name="Pill 60"/>
          <p:cNvSpPr txBox="1"/>
          <p:nvPr/>
        </p:nvSpPr>
        <p:spPr>
          <a:xfrm>
            <a:off x="8092440" y="5605272"/>
            <a:ext cx="32918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Human oversight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Convert Requirements Into a Control Library</a:t>
            </a:r>
            <a:endParaRPr lang="en-US" sz="36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143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I convert governance requirements into a standardized AI control library.</a:t>
            </a:r>
            <a:endParaRPr lang="en-US" sz="1600" dirty="0"/>
          </a:p>
        </p:txBody>
      </p:sp>
      <p:graphicFrame>
        <p:nvGraphicFramePr>
          <p:cNvPr id="4" name="Control libra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754880"/>
                <a:gridCol w="38404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Control domain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Example control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Evidence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Data governance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Data provenance and quality validation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Data lineage / validation report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Privacy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PII detection and access controls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Privacy assessment / test results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Fairness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Bias evaluation against defined criteria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Evaluation report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Transparency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AI/model system documentation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Approved system card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Human oversight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Defined human review checkpoints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Workflow / approval record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Reliability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Pre-production evaluation suite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Evaluation results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Security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Prompt injection and abuse testing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Security test results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Monitoring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Performance and risk monitoring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Monitoring dashboard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Incident management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 incident thresholds and escalation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Incident records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Change management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Risk reassessment for material changes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Change approval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Accountability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Named system/control owner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RACI / ownership record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Label 61"/>
          <p:cNvSpPr txBox="1"/>
          <p:nvPr/>
        </p:nvSpPr>
        <p:spPr>
          <a:xfrm>
            <a:off x="5486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EACH CONTROL HAS</a:t>
            </a:r>
            <a:endParaRPr lang="en-US" sz="1200" dirty="0"/>
          </a:p>
        </p:txBody>
      </p:sp>
      <p:sp>
        <p:nvSpPr>
          <p:cNvPr id="6" name="Pill 62"/>
          <p:cNvSpPr txBox="1"/>
          <p:nvPr/>
        </p:nvSpPr>
        <p:spPr>
          <a:xfrm>
            <a:off x="548640" y="5669280"/>
            <a:ext cx="13716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Owner</a:t>
            </a:r>
            <a:endParaRPr lang="en-US" sz="1400" dirty="0"/>
          </a:p>
        </p:txBody>
      </p:sp>
      <p:sp>
        <p:nvSpPr>
          <p:cNvPr id="7" name="Arrow 63"/>
          <p:cNvSpPr/>
          <p:nvPr/>
        </p:nvSpPr>
        <p:spPr>
          <a:xfrm>
            <a:off x="1984248" y="5861304"/>
            <a:ext cx="283464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Pill 64"/>
          <p:cNvSpPr txBox="1"/>
          <p:nvPr/>
        </p:nvSpPr>
        <p:spPr>
          <a:xfrm>
            <a:off x="2331720" y="5669280"/>
            <a:ext cx="292608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Implementation requirement</a:t>
            </a:r>
            <a:endParaRPr lang="en-US" sz="1400" dirty="0"/>
          </a:p>
        </p:txBody>
      </p:sp>
      <p:sp>
        <p:nvSpPr>
          <p:cNvPr id="9" name="Arrow 65"/>
          <p:cNvSpPr/>
          <p:nvPr/>
        </p:nvSpPr>
        <p:spPr>
          <a:xfrm>
            <a:off x="5321808" y="5861304"/>
            <a:ext cx="283464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Pill 66"/>
          <p:cNvSpPr txBox="1"/>
          <p:nvPr/>
        </p:nvSpPr>
        <p:spPr>
          <a:xfrm>
            <a:off x="5669280" y="56692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Test method</a:t>
            </a:r>
            <a:endParaRPr lang="en-US" sz="1400" dirty="0"/>
          </a:p>
        </p:txBody>
      </p:sp>
      <p:sp>
        <p:nvSpPr>
          <p:cNvPr id="11" name="Arrow 67"/>
          <p:cNvSpPr/>
          <p:nvPr/>
        </p:nvSpPr>
        <p:spPr>
          <a:xfrm>
            <a:off x="7562088" y="5861304"/>
            <a:ext cx="283464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Pill 68"/>
          <p:cNvSpPr txBox="1"/>
          <p:nvPr/>
        </p:nvSpPr>
        <p:spPr>
          <a:xfrm>
            <a:off x="7909560" y="5669280"/>
            <a:ext cx="14630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Evidence</a:t>
            </a:r>
            <a:endParaRPr lang="en-US" sz="1400" dirty="0"/>
          </a:p>
        </p:txBody>
      </p:sp>
      <p:sp>
        <p:nvSpPr>
          <p:cNvPr id="13" name="Arrow 69"/>
          <p:cNvSpPr/>
          <p:nvPr/>
        </p:nvSpPr>
        <p:spPr>
          <a:xfrm>
            <a:off x="9436608" y="5861304"/>
            <a:ext cx="283464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Pill 70"/>
          <p:cNvSpPr txBox="1"/>
          <p:nvPr/>
        </p:nvSpPr>
        <p:spPr>
          <a:xfrm>
            <a:off x="9784080" y="5669280"/>
            <a:ext cx="18288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Review cadence</a:t>
            </a:r>
            <a:endParaRPr lang="en-US" sz="1400" dirty="0"/>
          </a:p>
        </p:txBody>
      </p:sp>
      <p:sp>
        <p:nvSpPr>
          <p:cNvPr id="15" name="Control note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This prevents controls from becoming generic policy statements.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Governance-to-Architecture Traceability</a:t>
            </a:r>
            <a:endParaRPr lang="en-US" sz="3600" dirty="0"/>
          </a:p>
        </p:txBody>
      </p:sp>
      <p:sp>
        <p:nvSpPr>
          <p:cNvPr id="3" name="Label 71"/>
          <p:cNvSpPr txBox="1"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TRACEABILITY CHAIN</a:t>
            </a:r>
            <a:endParaRPr lang="en-US" sz="1200" dirty="0"/>
          </a:p>
        </p:txBody>
      </p:sp>
      <p:sp>
        <p:nvSpPr>
          <p:cNvPr id="4" name="Chain connector"/>
          <p:cNvSpPr/>
          <p:nvPr/>
        </p:nvSpPr>
        <p:spPr>
          <a:xfrm>
            <a:off x="2468880" y="1828800"/>
            <a:ext cx="0" cy="38404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" name="Pill 72"/>
          <p:cNvSpPr txBox="1"/>
          <p:nvPr/>
        </p:nvSpPr>
        <p:spPr>
          <a:xfrm>
            <a:off x="548640" y="1645920"/>
            <a:ext cx="384048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EU AI Act requirement</a:t>
            </a:r>
            <a:endParaRPr lang="en-US" sz="1400" dirty="0"/>
          </a:p>
        </p:txBody>
      </p:sp>
      <p:sp>
        <p:nvSpPr>
          <p:cNvPr id="6" name="Pill 73"/>
          <p:cNvSpPr txBox="1"/>
          <p:nvPr/>
        </p:nvSpPr>
        <p:spPr>
          <a:xfrm>
            <a:off x="548640" y="2167128"/>
            <a:ext cx="384048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NIST AI RMF function / category</a:t>
            </a:r>
            <a:endParaRPr lang="en-US" sz="1400" dirty="0"/>
          </a:p>
        </p:txBody>
      </p:sp>
      <p:sp>
        <p:nvSpPr>
          <p:cNvPr id="7" name="Pill 74"/>
          <p:cNvSpPr txBox="1"/>
          <p:nvPr/>
        </p:nvSpPr>
        <p:spPr>
          <a:xfrm>
            <a:off x="548640" y="2688336"/>
            <a:ext cx="384048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Organizational policy</a:t>
            </a:r>
            <a:endParaRPr lang="en-US" sz="1400" dirty="0"/>
          </a:p>
        </p:txBody>
      </p:sp>
      <p:sp>
        <p:nvSpPr>
          <p:cNvPr id="8" name="Pill 75"/>
          <p:cNvSpPr txBox="1"/>
          <p:nvPr/>
        </p:nvSpPr>
        <p:spPr>
          <a:xfrm>
            <a:off x="548640" y="3209544"/>
            <a:ext cx="384048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control</a:t>
            </a:r>
            <a:endParaRPr lang="en-US" sz="1400" dirty="0"/>
          </a:p>
        </p:txBody>
      </p:sp>
      <p:sp>
        <p:nvSpPr>
          <p:cNvPr id="9" name="Pill 76"/>
          <p:cNvSpPr txBox="1"/>
          <p:nvPr/>
        </p:nvSpPr>
        <p:spPr>
          <a:xfrm>
            <a:off x="548640" y="3730752"/>
            <a:ext cx="384048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Architecture component</a:t>
            </a:r>
            <a:endParaRPr lang="en-US" sz="1400" dirty="0"/>
          </a:p>
        </p:txBody>
      </p:sp>
      <p:sp>
        <p:nvSpPr>
          <p:cNvPr id="10" name="Pill 77"/>
          <p:cNvSpPr txBox="1"/>
          <p:nvPr/>
        </p:nvSpPr>
        <p:spPr>
          <a:xfrm>
            <a:off x="548640" y="4251960"/>
            <a:ext cx="384048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Control test</a:t>
            </a:r>
            <a:endParaRPr lang="en-US" sz="1400" dirty="0"/>
          </a:p>
        </p:txBody>
      </p:sp>
      <p:sp>
        <p:nvSpPr>
          <p:cNvPr id="11" name="Pill 78"/>
          <p:cNvSpPr txBox="1"/>
          <p:nvPr/>
        </p:nvSpPr>
        <p:spPr>
          <a:xfrm>
            <a:off x="548640" y="4773168"/>
            <a:ext cx="384048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Evidence</a:t>
            </a:r>
            <a:endParaRPr lang="en-US" sz="1400" dirty="0"/>
          </a:p>
        </p:txBody>
      </p:sp>
      <p:sp>
        <p:nvSpPr>
          <p:cNvPr id="12" name="Pill 79"/>
          <p:cNvSpPr txBox="1"/>
          <p:nvPr/>
        </p:nvSpPr>
        <p:spPr>
          <a:xfrm>
            <a:off x="548640" y="5294376"/>
            <a:ext cx="384048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owner</a:t>
            </a:r>
            <a:endParaRPr lang="en-US" sz="1400" dirty="0"/>
          </a:p>
        </p:txBody>
      </p:sp>
      <p:sp>
        <p:nvSpPr>
          <p:cNvPr id="13" name="Worked example card"/>
          <p:cNvSpPr/>
          <p:nvPr/>
        </p:nvSpPr>
        <p:spPr>
          <a:xfrm>
            <a:off x="4846320" y="1280160"/>
            <a:ext cx="6793992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Label 80"/>
          <p:cNvSpPr txBox="1"/>
          <p:nvPr/>
        </p:nvSpPr>
        <p:spPr>
          <a:xfrm>
            <a:off x="51206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WORKED EXAMPLE</a:t>
            </a:r>
            <a:endParaRPr lang="en-US" sz="1200" dirty="0"/>
          </a:p>
        </p:txBody>
      </p:sp>
      <p:sp>
        <p:nvSpPr>
          <p:cNvPr id="15" name="Example key 81"/>
          <p:cNvSpPr txBox="1"/>
          <p:nvPr/>
        </p:nvSpPr>
        <p:spPr>
          <a:xfrm>
            <a:off x="5120640" y="181051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Requirement</a:t>
            </a:r>
            <a:endParaRPr lang="en-US" sz="1400" dirty="0"/>
          </a:p>
        </p:txBody>
      </p:sp>
      <p:sp>
        <p:nvSpPr>
          <p:cNvPr id="16" name="Example value 82"/>
          <p:cNvSpPr txBox="1"/>
          <p:nvPr/>
        </p:nvSpPr>
        <p:spPr>
          <a:xfrm>
            <a:off x="6949440" y="181051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Appropriate human oversight</a:t>
            </a:r>
            <a:endParaRPr lang="en-US" sz="1400" dirty="0"/>
          </a:p>
        </p:txBody>
      </p:sp>
      <p:sp>
        <p:nvSpPr>
          <p:cNvPr id="17" name="Row divider 83"/>
          <p:cNvSpPr/>
          <p:nvPr/>
        </p:nvSpPr>
        <p:spPr>
          <a:xfrm>
            <a:off x="5120640" y="2350008"/>
            <a:ext cx="624535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18" name="Example key 84"/>
          <p:cNvSpPr txBox="1"/>
          <p:nvPr/>
        </p:nvSpPr>
        <p:spPr>
          <a:xfrm>
            <a:off x="5120640" y="237744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Risk</a:t>
            </a:r>
            <a:endParaRPr lang="en-US" sz="1400" dirty="0"/>
          </a:p>
        </p:txBody>
      </p:sp>
      <p:sp>
        <p:nvSpPr>
          <p:cNvPr id="19" name="Example value 85"/>
          <p:cNvSpPr txBox="1"/>
          <p:nvPr/>
        </p:nvSpPr>
        <p:spPr>
          <a:xfrm>
            <a:off x="6949440" y="237744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Over-reliance on automated decision</a:t>
            </a:r>
            <a:endParaRPr lang="en-US" sz="1400" dirty="0"/>
          </a:p>
        </p:txBody>
      </p:sp>
      <p:sp>
        <p:nvSpPr>
          <p:cNvPr id="20" name="Row divider 86"/>
          <p:cNvSpPr/>
          <p:nvPr/>
        </p:nvSpPr>
        <p:spPr>
          <a:xfrm>
            <a:off x="5120640" y="2916936"/>
            <a:ext cx="624535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21" name="Example key 87"/>
          <p:cNvSpPr txBox="1"/>
          <p:nvPr/>
        </p:nvSpPr>
        <p:spPr>
          <a:xfrm>
            <a:off x="5120640" y="29443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Control</a:t>
            </a:r>
            <a:endParaRPr lang="en-US" sz="1400" dirty="0"/>
          </a:p>
        </p:txBody>
      </p:sp>
      <p:sp>
        <p:nvSpPr>
          <p:cNvPr id="22" name="Example value 88"/>
          <p:cNvSpPr txBox="1"/>
          <p:nvPr/>
        </p:nvSpPr>
        <p:spPr>
          <a:xfrm>
            <a:off x="6949440" y="2944368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Human review required for defined high-impact decisions</a:t>
            </a:r>
            <a:endParaRPr lang="en-US" sz="1400" dirty="0"/>
          </a:p>
        </p:txBody>
      </p:sp>
      <p:sp>
        <p:nvSpPr>
          <p:cNvPr id="23" name="Row divider 89"/>
          <p:cNvSpPr/>
          <p:nvPr/>
        </p:nvSpPr>
        <p:spPr>
          <a:xfrm>
            <a:off x="5120640" y="3483864"/>
            <a:ext cx="624535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24" name="Example key 90"/>
          <p:cNvSpPr txBox="1"/>
          <p:nvPr/>
        </p:nvSpPr>
        <p:spPr>
          <a:xfrm>
            <a:off x="5120640" y="351129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25" name="Example value 91"/>
          <p:cNvSpPr txBox="1"/>
          <p:nvPr/>
        </p:nvSpPr>
        <p:spPr>
          <a:xfrm>
            <a:off x="6949440" y="3511296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Human approval workflow</a:t>
            </a:r>
            <a:endParaRPr lang="en-US" sz="1400" dirty="0"/>
          </a:p>
        </p:txBody>
      </p:sp>
      <p:sp>
        <p:nvSpPr>
          <p:cNvPr id="26" name="Row divider 92"/>
          <p:cNvSpPr/>
          <p:nvPr/>
        </p:nvSpPr>
        <p:spPr>
          <a:xfrm>
            <a:off x="5120640" y="4050792"/>
            <a:ext cx="624535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27" name="Example key 93"/>
          <p:cNvSpPr txBox="1"/>
          <p:nvPr/>
        </p:nvSpPr>
        <p:spPr>
          <a:xfrm>
            <a:off x="5120640" y="407822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Technical requirement</a:t>
            </a:r>
            <a:endParaRPr lang="en-US" sz="1400" dirty="0"/>
          </a:p>
        </p:txBody>
      </p:sp>
      <p:sp>
        <p:nvSpPr>
          <p:cNvPr id="28" name="Example value 94"/>
          <p:cNvSpPr txBox="1"/>
          <p:nvPr/>
        </p:nvSpPr>
        <p:spPr>
          <a:xfrm>
            <a:off x="6949440" y="4078224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System cannot finalize the decision without required approval</a:t>
            </a:r>
            <a:endParaRPr lang="en-US" sz="1400" dirty="0"/>
          </a:p>
        </p:txBody>
      </p:sp>
      <p:sp>
        <p:nvSpPr>
          <p:cNvPr id="29" name="Row divider 95"/>
          <p:cNvSpPr/>
          <p:nvPr/>
        </p:nvSpPr>
        <p:spPr>
          <a:xfrm>
            <a:off x="5120640" y="4617720"/>
            <a:ext cx="624535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30" name="Example key 96"/>
          <p:cNvSpPr txBox="1"/>
          <p:nvPr/>
        </p:nvSpPr>
        <p:spPr>
          <a:xfrm>
            <a:off x="5120640" y="464515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Evidence</a:t>
            </a:r>
            <a:endParaRPr lang="en-US" sz="1400" dirty="0"/>
          </a:p>
        </p:txBody>
      </p:sp>
      <p:sp>
        <p:nvSpPr>
          <p:cNvPr id="31" name="Example value 97"/>
          <p:cNvSpPr txBox="1"/>
          <p:nvPr/>
        </p:nvSpPr>
        <p:spPr>
          <a:xfrm>
            <a:off x="6949440" y="464515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Approval logs</a:t>
            </a:r>
            <a:endParaRPr lang="en-US" sz="1400" dirty="0"/>
          </a:p>
        </p:txBody>
      </p:sp>
      <p:sp>
        <p:nvSpPr>
          <p:cNvPr id="32" name="Row divider 98"/>
          <p:cNvSpPr/>
          <p:nvPr/>
        </p:nvSpPr>
        <p:spPr>
          <a:xfrm>
            <a:off x="5120640" y="5184648"/>
            <a:ext cx="624535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33" name="Example key 99"/>
          <p:cNvSpPr txBox="1"/>
          <p:nvPr/>
        </p:nvSpPr>
        <p:spPr>
          <a:xfrm>
            <a:off x="5120640" y="52120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Owner</a:t>
            </a:r>
            <a:endParaRPr lang="en-US" sz="1400" dirty="0"/>
          </a:p>
        </p:txBody>
      </p:sp>
      <p:sp>
        <p:nvSpPr>
          <p:cNvPr id="34" name="Example value 100"/>
          <p:cNvSpPr txBox="1"/>
          <p:nvPr/>
        </p:nvSpPr>
        <p:spPr>
          <a:xfrm>
            <a:off x="6949440" y="521208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Business/process owner</a:t>
            </a:r>
            <a:endParaRPr lang="en-US" sz="1400" dirty="0"/>
          </a:p>
        </p:txBody>
      </p:sp>
      <p:sp>
        <p:nvSpPr>
          <p:cNvPr id="35" name="Traceability takeaway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End-to-end traceability from regulation to implementation and evidence.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Turn Controls Into Architecture Standards</a:t>
            </a:r>
            <a:endParaRPr lang="en-US" sz="3600" dirty="0"/>
          </a:p>
        </p:txBody>
      </p:sp>
      <p:sp>
        <p:nvSpPr>
          <p:cNvPr id="3" name="Pill 101"/>
          <p:cNvSpPr txBox="1"/>
          <p:nvPr/>
        </p:nvSpPr>
        <p:spPr>
          <a:xfrm>
            <a:off x="548640" y="1325880"/>
            <a:ext cx="713232" cy="960120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</a:t>
            </a:r>
            <a:endParaRPr lang="en-US" sz="1400" dirty="0"/>
          </a:p>
        </p:txBody>
      </p:sp>
      <p:sp>
        <p:nvSpPr>
          <p:cNvPr id="4" name="Arrow 102"/>
          <p:cNvSpPr/>
          <p:nvPr/>
        </p:nvSpPr>
        <p:spPr>
          <a:xfrm>
            <a:off x="1280160" y="1805940"/>
            <a:ext cx="14630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" name="Pill 103"/>
          <p:cNvSpPr txBox="1"/>
          <p:nvPr/>
        </p:nvSpPr>
        <p:spPr>
          <a:xfrm>
            <a:off x="1444752" y="1325880"/>
            <a:ext cx="155448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Authentication &amp; Authorization</a:t>
            </a:r>
            <a:endParaRPr lang="en-US" sz="1400" dirty="0"/>
          </a:p>
        </p:txBody>
      </p:sp>
      <p:sp>
        <p:nvSpPr>
          <p:cNvPr id="6" name="Arrow 104"/>
          <p:cNvSpPr/>
          <p:nvPr/>
        </p:nvSpPr>
        <p:spPr>
          <a:xfrm>
            <a:off x="3017520" y="1805940"/>
            <a:ext cx="14630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Pill 105"/>
          <p:cNvSpPr txBox="1"/>
          <p:nvPr/>
        </p:nvSpPr>
        <p:spPr>
          <a:xfrm>
            <a:off x="3182112" y="1325880"/>
            <a:ext cx="155448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Input Validation / Guardrails</a:t>
            </a:r>
            <a:endParaRPr lang="en-US" sz="1400" dirty="0"/>
          </a:p>
        </p:txBody>
      </p:sp>
      <p:sp>
        <p:nvSpPr>
          <p:cNvPr id="8" name="Arrow 106"/>
          <p:cNvSpPr/>
          <p:nvPr/>
        </p:nvSpPr>
        <p:spPr>
          <a:xfrm>
            <a:off x="4754880" y="1805940"/>
            <a:ext cx="14630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Pill 107"/>
          <p:cNvSpPr txBox="1"/>
          <p:nvPr/>
        </p:nvSpPr>
        <p:spPr>
          <a:xfrm>
            <a:off x="4919472" y="1325880"/>
            <a:ext cx="146304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Retrieval / Knowledge Layer</a:t>
            </a:r>
            <a:endParaRPr lang="en-US" sz="1400" dirty="0"/>
          </a:p>
        </p:txBody>
      </p:sp>
      <p:sp>
        <p:nvSpPr>
          <p:cNvPr id="10" name="Arrow 108"/>
          <p:cNvSpPr/>
          <p:nvPr/>
        </p:nvSpPr>
        <p:spPr>
          <a:xfrm>
            <a:off x="6400800" y="1805940"/>
            <a:ext cx="14630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Pill 109"/>
          <p:cNvSpPr txBox="1"/>
          <p:nvPr/>
        </p:nvSpPr>
        <p:spPr>
          <a:xfrm>
            <a:off x="6565392" y="1325880"/>
            <a:ext cx="822960" cy="96012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LLM</a:t>
            </a:r>
            <a:endParaRPr lang="en-US" sz="1400" dirty="0"/>
          </a:p>
        </p:txBody>
      </p:sp>
      <p:sp>
        <p:nvSpPr>
          <p:cNvPr id="12" name="Arrow 110"/>
          <p:cNvSpPr/>
          <p:nvPr/>
        </p:nvSpPr>
        <p:spPr>
          <a:xfrm>
            <a:off x="7406640" y="1805940"/>
            <a:ext cx="14630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Pill 111"/>
          <p:cNvSpPr txBox="1"/>
          <p:nvPr/>
        </p:nvSpPr>
        <p:spPr>
          <a:xfrm>
            <a:off x="7571232" y="1325880"/>
            <a:ext cx="155448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Output Validation / Safety Controls</a:t>
            </a:r>
            <a:endParaRPr lang="en-US" sz="1400" dirty="0"/>
          </a:p>
        </p:txBody>
      </p:sp>
      <p:sp>
        <p:nvSpPr>
          <p:cNvPr id="14" name="Arrow 112"/>
          <p:cNvSpPr/>
          <p:nvPr/>
        </p:nvSpPr>
        <p:spPr>
          <a:xfrm>
            <a:off x="9144000" y="1805940"/>
            <a:ext cx="14630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Pill 113"/>
          <p:cNvSpPr txBox="1"/>
          <p:nvPr/>
        </p:nvSpPr>
        <p:spPr>
          <a:xfrm>
            <a:off x="9308592" y="1325880"/>
            <a:ext cx="141732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Human Escalation where required</a:t>
            </a:r>
            <a:endParaRPr lang="en-US" sz="1400" dirty="0"/>
          </a:p>
        </p:txBody>
      </p:sp>
      <p:sp>
        <p:nvSpPr>
          <p:cNvPr id="16" name="Arrow 114"/>
          <p:cNvSpPr/>
          <p:nvPr/>
        </p:nvSpPr>
        <p:spPr>
          <a:xfrm>
            <a:off x="10744200" y="1805940"/>
            <a:ext cx="14630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Pill 115"/>
          <p:cNvSpPr txBox="1"/>
          <p:nvPr/>
        </p:nvSpPr>
        <p:spPr>
          <a:xfrm>
            <a:off x="10908792" y="1325880"/>
            <a:ext cx="713232" cy="960120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</a:t>
            </a:r>
            <a:endParaRPr lang="en-US" sz="1400" dirty="0"/>
          </a:p>
        </p:txBody>
      </p:sp>
      <p:sp>
        <p:nvSpPr>
          <p:cNvPr id="18" name="Label 116"/>
          <p:cNvSpPr txBox="1"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ACROSS THE ARCHITECTURE</a:t>
            </a:r>
            <a:endParaRPr lang="en-US" sz="1200" dirty="0"/>
          </a:p>
        </p:txBody>
      </p:sp>
      <p:sp>
        <p:nvSpPr>
          <p:cNvPr id="19" name="Capability card 117"/>
          <p:cNvSpPr/>
          <p:nvPr/>
        </p:nvSpPr>
        <p:spPr>
          <a:xfrm>
            <a:off x="548640" y="2971800"/>
            <a:ext cx="26289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Check circle 118"/>
          <p:cNvSpPr/>
          <p:nvPr/>
        </p:nvSpPr>
        <p:spPr>
          <a:xfrm>
            <a:off x="658368" y="3063240"/>
            <a:ext cx="274320" cy="2743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1" name="Check icon 11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3127248"/>
            <a:ext cx="146304" cy="146304"/>
          </a:xfrm>
          <a:prstGeom prst="rect">
            <a:avLst/>
          </a:prstGeom>
        </p:spPr>
      </p:pic>
      <p:sp>
        <p:nvSpPr>
          <p:cNvPr id="22" name="Capability text 120"/>
          <p:cNvSpPr txBox="1"/>
          <p:nvPr/>
        </p:nvSpPr>
        <p:spPr>
          <a:xfrm>
            <a:off x="1051560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PII detection</a:t>
            </a:r>
            <a:endParaRPr lang="en-US" sz="1400" dirty="0"/>
          </a:p>
        </p:txBody>
      </p:sp>
      <p:sp>
        <p:nvSpPr>
          <p:cNvPr id="23" name="Capability card 121"/>
          <p:cNvSpPr/>
          <p:nvPr/>
        </p:nvSpPr>
        <p:spPr>
          <a:xfrm>
            <a:off x="3360420" y="2971800"/>
            <a:ext cx="26289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Check circle 122"/>
          <p:cNvSpPr/>
          <p:nvPr/>
        </p:nvSpPr>
        <p:spPr>
          <a:xfrm>
            <a:off x="3470148" y="3063240"/>
            <a:ext cx="274320" cy="2743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5" name="Check icon 12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6" y="3127248"/>
            <a:ext cx="146304" cy="146304"/>
          </a:xfrm>
          <a:prstGeom prst="rect">
            <a:avLst/>
          </a:prstGeom>
        </p:spPr>
      </p:pic>
      <p:sp>
        <p:nvSpPr>
          <p:cNvPr id="26" name="Capability text 124"/>
          <p:cNvSpPr txBox="1"/>
          <p:nvPr/>
        </p:nvSpPr>
        <p:spPr>
          <a:xfrm>
            <a:off x="3863340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Prompt/input filtering</a:t>
            </a:r>
            <a:endParaRPr lang="en-US" sz="1400" dirty="0"/>
          </a:p>
        </p:txBody>
      </p:sp>
      <p:sp>
        <p:nvSpPr>
          <p:cNvPr id="27" name="Capability card 125"/>
          <p:cNvSpPr/>
          <p:nvPr/>
        </p:nvSpPr>
        <p:spPr>
          <a:xfrm>
            <a:off x="6172200" y="2971800"/>
            <a:ext cx="26289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8" name="Check circle 126"/>
          <p:cNvSpPr/>
          <p:nvPr/>
        </p:nvSpPr>
        <p:spPr>
          <a:xfrm>
            <a:off x="6281928" y="3063240"/>
            <a:ext cx="274320" cy="2743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9" name="Check icon 12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3127248"/>
            <a:ext cx="146304" cy="146304"/>
          </a:xfrm>
          <a:prstGeom prst="rect">
            <a:avLst/>
          </a:prstGeom>
        </p:spPr>
      </p:pic>
      <p:sp>
        <p:nvSpPr>
          <p:cNvPr id="30" name="Capability text 128"/>
          <p:cNvSpPr txBox="1"/>
          <p:nvPr/>
        </p:nvSpPr>
        <p:spPr>
          <a:xfrm>
            <a:off x="6675120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Access controls</a:t>
            </a:r>
            <a:endParaRPr lang="en-US" sz="1400" dirty="0"/>
          </a:p>
        </p:txBody>
      </p:sp>
      <p:sp>
        <p:nvSpPr>
          <p:cNvPr id="31" name="Capability card 129"/>
          <p:cNvSpPr/>
          <p:nvPr/>
        </p:nvSpPr>
        <p:spPr>
          <a:xfrm>
            <a:off x="8983980" y="2971800"/>
            <a:ext cx="26289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2" name="Check circle 130"/>
          <p:cNvSpPr/>
          <p:nvPr/>
        </p:nvSpPr>
        <p:spPr>
          <a:xfrm>
            <a:off x="9093708" y="3063240"/>
            <a:ext cx="274320" cy="2743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3" name="Check icon 13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7716" y="3127248"/>
            <a:ext cx="146304" cy="146304"/>
          </a:xfrm>
          <a:prstGeom prst="rect">
            <a:avLst/>
          </a:prstGeom>
        </p:spPr>
      </p:pic>
      <p:sp>
        <p:nvSpPr>
          <p:cNvPr id="34" name="Capability text 132"/>
          <p:cNvSpPr txBox="1"/>
          <p:nvPr/>
        </p:nvSpPr>
        <p:spPr>
          <a:xfrm>
            <a:off x="9486900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Retrieval grounding</a:t>
            </a:r>
            <a:endParaRPr lang="en-US" sz="1400" dirty="0"/>
          </a:p>
        </p:txBody>
      </p:sp>
      <p:sp>
        <p:nvSpPr>
          <p:cNvPr id="35" name="Capability card 133"/>
          <p:cNvSpPr/>
          <p:nvPr/>
        </p:nvSpPr>
        <p:spPr>
          <a:xfrm>
            <a:off x="548640" y="3566160"/>
            <a:ext cx="26289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6" name="Check circle 134"/>
          <p:cNvSpPr/>
          <p:nvPr/>
        </p:nvSpPr>
        <p:spPr>
          <a:xfrm>
            <a:off x="658368" y="3657600"/>
            <a:ext cx="274320" cy="2743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7" name="Check icon 13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721608"/>
            <a:ext cx="146304" cy="146304"/>
          </a:xfrm>
          <a:prstGeom prst="rect">
            <a:avLst/>
          </a:prstGeom>
        </p:spPr>
      </p:pic>
      <p:sp>
        <p:nvSpPr>
          <p:cNvPr id="38" name="Capability text 136"/>
          <p:cNvSpPr txBox="1"/>
          <p:nvPr/>
        </p:nvSpPr>
        <p:spPr>
          <a:xfrm>
            <a:off x="1051560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 validation</a:t>
            </a:r>
            <a:endParaRPr lang="en-US" sz="1400" dirty="0"/>
          </a:p>
        </p:txBody>
      </p:sp>
      <p:sp>
        <p:nvSpPr>
          <p:cNvPr id="39" name="Capability card 137"/>
          <p:cNvSpPr/>
          <p:nvPr/>
        </p:nvSpPr>
        <p:spPr>
          <a:xfrm>
            <a:off x="3360420" y="3566160"/>
            <a:ext cx="26289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0" name="Check circle 138"/>
          <p:cNvSpPr/>
          <p:nvPr/>
        </p:nvSpPr>
        <p:spPr>
          <a:xfrm>
            <a:off x="3470148" y="3657600"/>
            <a:ext cx="274320" cy="2743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41" name="Check icon 13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4156" y="3721608"/>
            <a:ext cx="146304" cy="146304"/>
          </a:xfrm>
          <a:prstGeom prst="rect">
            <a:avLst/>
          </a:prstGeom>
        </p:spPr>
      </p:pic>
      <p:sp>
        <p:nvSpPr>
          <p:cNvPr id="42" name="Capability text 140"/>
          <p:cNvSpPr txBox="1"/>
          <p:nvPr/>
        </p:nvSpPr>
        <p:spPr>
          <a:xfrm>
            <a:off x="3863340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Content safety</a:t>
            </a:r>
            <a:endParaRPr lang="en-US" sz="1400" dirty="0"/>
          </a:p>
        </p:txBody>
      </p:sp>
      <p:sp>
        <p:nvSpPr>
          <p:cNvPr id="43" name="Capability card 141"/>
          <p:cNvSpPr/>
          <p:nvPr/>
        </p:nvSpPr>
        <p:spPr>
          <a:xfrm>
            <a:off x="6172200" y="3566160"/>
            <a:ext cx="26289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4" name="Check circle 142"/>
          <p:cNvSpPr/>
          <p:nvPr/>
        </p:nvSpPr>
        <p:spPr>
          <a:xfrm>
            <a:off x="6281928" y="3657600"/>
            <a:ext cx="274320" cy="2743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45" name="Check icon 14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3721608"/>
            <a:ext cx="146304" cy="146304"/>
          </a:xfrm>
          <a:prstGeom prst="rect">
            <a:avLst/>
          </a:prstGeom>
        </p:spPr>
      </p:pic>
      <p:sp>
        <p:nvSpPr>
          <p:cNvPr id="46" name="Capability text 144"/>
          <p:cNvSpPr txBox="1"/>
          <p:nvPr/>
        </p:nvSpPr>
        <p:spPr>
          <a:xfrm>
            <a:off x="6675120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Audit logging</a:t>
            </a:r>
            <a:endParaRPr lang="en-US" sz="1400" dirty="0"/>
          </a:p>
        </p:txBody>
      </p:sp>
      <p:sp>
        <p:nvSpPr>
          <p:cNvPr id="47" name="Capability card 145"/>
          <p:cNvSpPr/>
          <p:nvPr/>
        </p:nvSpPr>
        <p:spPr>
          <a:xfrm>
            <a:off x="8983980" y="3566160"/>
            <a:ext cx="26289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8" name="Check circle 146"/>
          <p:cNvSpPr/>
          <p:nvPr/>
        </p:nvSpPr>
        <p:spPr>
          <a:xfrm>
            <a:off x="9093708" y="3657600"/>
            <a:ext cx="274320" cy="2743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49" name="Check icon 14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7716" y="3721608"/>
            <a:ext cx="146304" cy="146304"/>
          </a:xfrm>
          <a:prstGeom prst="rect">
            <a:avLst/>
          </a:prstGeom>
        </p:spPr>
      </p:pic>
      <p:sp>
        <p:nvSpPr>
          <p:cNvPr id="50" name="Capability text 148"/>
          <p:cNvSpPr txBox="1"/>
          <p:nvPr/>
        </p:nvSpPr>
        <p:spPr>
          <a:xfrm>
            <a:off x="9486900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Evaluation pipeline</a:t>
            </a:r>
            <a:endParaRPr lang="en-US" sz="1400" dirty="0"/>
          </a:p>
        </p:txBody>
      </p:sp>
      <p:sp>
        <p:nvSpPr>
          <p:cNvPr id="51" name="Capability card 149"/>
          <p:cNvSpPr/>
          <p:nvPr/>
        </p:nvSpPr>
        <p:spPr>
          <a:xfrm>
            <a:off x="548640" y="4160520"/>
            <a:ext cx="26289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2" name="Check circle 150"/>
          <p:cNvSpPr/>
          <p:nvPr/>
        </p:nvSpPr>
        <p:spPr>
          <a:xfrm>
            <a:off x="658368" y="4251960"/>
            <a:ext cx="274320" cy="2743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3" name="Check icon 151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76" y="4315968"/>
            <a:ext cx="146304" cy="146304"/>
          </a:xfrm>
          <a:prstGeom prst="rect">
            <a:avLst/>
          </a:prstGeom>
        </p:spPr>
      </p:pic>
      <p:sp>
        <p:nvSpPr>
          <p:cNvPr id="54" name="Capability text 152"/>
          <p:cNvSpPr txBox="1"/>
          <p:nvPr/>
        </p:nvSpPr>
        <p:spPr>
          <a:xfrm>
            <a:off x="1051560" y="4160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55" name="Capability card 153"/>
          <p:cNvSpPr/>
          <p:nvPr/>
        </p:nvSpPr>
        <p:spPr>
          <a:xfrm>
            <a:off x="3360420" y="4160520"/>
            <a:ext cx="26289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6" name="Check circle 154"/>
          <p:cNvSpPr/>
          <p:nvPr/>
        </p:nvSpPr>
        <p:spPr>
          <a:xfrm>
            <a:off x="3470148" y="4251960"/>
            <a:ext cx="274320" cy="2743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7" name="Check icon 15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4156" y="4315968"/>
            <a:ext cx="146304" cy="146304"/>
          </a:xfrm>
          <a:prstGeom prst="rect">
            <a:avLst/>
          </a:prstGeom>
        </p:spPr>
      </p:pic>
      <p:sp>
        <p:nvSpPr>
          <p:cNvPr id="58" name="Capability text 156"/>
          <p:cNvSpPr txBox="1"/>
          <p:nvPr/>
        </p:nvSpPr>
        <p:spPr>
          <a:xfrm>
            <a:off x="3863340" y="4160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Incident detection</a:t>
            </a:r>
            <a:endParaRPr lang="en-US" sz="1400" dirty="0"/>
          </a:p>
        </p:txBody>
      </p:sp>
      <p:sp>
        <p:nvSpPr>
          <p:cNvPr id="59" name="Capability card 157"/>
          <p:cNvSpPr/>
          <p:nvPr/>
        </p:nvSpPr>
        <p:spPr>
          <a:xfrm>
            <a:off x="6172200" y="4160520"/>
            <a:ext cx="26289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0" name="Check circle 158"/>
          <p:cNvSpPr/>
          <p:nvPr/>
        </p:nvSpPr>
        <p:spPr>
          <a:xfrm>
            <a:off x="6281928" y="4251960"/>
            <a:ext cx="274320" cy="2743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1" name="Check icon 15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5936" y="4315968"/>
            <a:ext cx="146304" cy="146304"/>
          </a:xfrm>
          <a:prstGeom prst="rect">
            <a:avLst/>
          </a:prstGeom>
        </p:spPr>
      </p:pic>
      <p:sp>
        <p:nvSpPr>
          <p:cNvPr id="62" name="Capability text 160"/>
          <p:cNvSpPr txBox="1"/>
          <p:nvPr/>
        </p:nvSpPr>
        <p:spPr>
          <a:xfrm>
            <a:off x="6675120" y="4160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Human escalation</a:t>
            </a:r>
            <a:endParaRPr lang="en-US" sz="1400" dirty="0"/>
          </a:p>
        </p:txBody>
      </p:sp>
      <p:sp>
        <p:nvSpPr>
          <p:cNvPr id="63" name="Principle card"/>
          <p:cNvSpPr/>
          <p:nvPr/>
        </p:nvSpPr>
        <p:spPr>
          <a:xfrm>
            <a:off x="548640" y="4937760"/>
            <a:ext cx="11091672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4" name="Label 161"/>
          <p:cNvSpPr txBox="1"/>
          <p:nvPr/>
        </p:nvSpPr>
        <p:spPr>
          <a:xfrm>
            <a:off x="868680" y="5102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THE PRINCIPLE</a:t>
            </a:r>
            <a:endParaRPr lang="en-US" sz="1200" dirty="0"/>
          </a:p>
        </p:txBody>
      </p:sp>
      <p:sp>
        <p:nvSpPr>
          <p:cNvPr id="65" name="Principle text"/>
          <p:cNvSpPr txBox="1"/>
          <p:nvPr/>
        </p:nvSpPr>
        <p:spPr>
          <a:xfrm>
            <a:off x="868680" y="54406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Where possible, governance requirements should become architecture patterns or platform capabilities rather than relying entirely on manual compliance activities.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Embed Governance Into the Delivery Lifecycle</a:t>
            </a:r>
            <a:endParaRPr lang="en-US" sz="3600" dirty="0"/>
          </a:p>
        </p:txBody>
      </p:sp>
      <p:sp>
        <p:nvSpPr>
          <p:cNvPr id="3" name="Timeline line"/>
          <p:cNvSpPr/>
          <p:nvPr/>
        </p:nvSpPr>
        <p:spPr>
          <a:xfrm>
            <a:off x="1292047" y="1828800"/>
            <a:ext cx="9579254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4" name="Number 162"/>
          <p:cNvSpPr txBox="1"/>
          <p:nvPr/>
        </p:nvSpPr>
        <p:spPr>
          <a:xfrm>
            <a:off x="1063447" y="16002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age card 163"/>
          <p:cNvSpPr txBox="1"/>
          <p:nvPr/>
        </p:nvSpPr>
        <p:spPr>
          <a:xfrm>
            <a:off x="548640" y="2423160"/>
            <a:ext cx="1486814" cy="2468880"/>
          </a:xfrm>
          <a:prstGeom prst="roundRect">
            <a:avLst>
              <a:gd name="adj" fmla="val 4920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Use-case intake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Risk classification + regulatory applicability</a:t>
            </a:r>
            <a:endParaRPr lang="en-US" sz="1400" dirty="0"/>
          </a:p>
        </p:txBody>
      </p:sp>
      <p:sp>
        <p:nvSpPr>
          <p:cNvPr id="6" name="Number 164"/>
          <p:cNvSpPr txBox="1"/>
          <p:nvPr/>
        </p:nvSpPr>
        <p:spPr>
          <a:xfrm>
            <a:off x="2659990" y="16002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Stage card 165"/>
          <p:cNvSpPr txBox="1"/>
          <p:nvPr/>
        </p:nvSpPr>
        <p:spPr>
          <a:xfrm>
            <a:off x="2145182" y="2423160"/>
            <a:ext cx="1486814" cy="2468880"/>
          </a:xfrm>
          <a:prstGeom prst="roundRect">
            <a:avLst>
              <a:gd name="adj" fmla="val 4920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Architecture review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Required controls identified</a:t>
            </a:r>
            <a:endParaRPr lang="en-US" sz="1400" dirty="0"/>
          </a:p>
        </p:txBody>
      </p:sp>
      <p:sp>
        <p:nvSpPr>
          <p:cNvPr id="8" name="Number 166"/>
          <p:cNvSpPr txBox="1"/>
          <p:nvPr/>
        </p:nvSpPr>
        <p:spPr>
          <a:xfrm>
            <a:off x="4256532" y="16002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Stage card 167"/>
          <p:cNvSpPr txBox="1"/>
          <p:nvPr/>
        </p:nvSpPr>
        <p:spPr>
          <a:xfrm>
            <a:off x="3741725" y="2423160"/>
            <a:ext cx="1486814" cy="2468880"/>
          </a:xfrm>
          <a:prstGeom prst="roundRect">
            <a:avLst>
              <a:gd name="adj" fmla="val 4920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Development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Controls implemented</a:t>
            </a:r>
            <a:endParaRPr lang="en-US" sz="1400" dirty="0"/>
          </a:p>
        </p:txBody>
      </p:sp>
      <p:sp>
        <p:nvSpPr>
          <p:cNvPr id="10" name="Number 168"/>
          <p:cNvSpPr txBox="1"/>
          <p:nvPr/>
        </p:nvSpPr>
        <p:spPr>
          <a:xfrm>
            <a:off x="5853074" y="16002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Stage card 169"/>
          <p:cNvSpPr txBox="1"/>
          <p:nvPr/>
        </p:nvSpPr>
        <p:spPr>
          <a:xfrm>
            <a:off x="5338267" y="2423160"/>
            <a:ext cx="1486814" cy="2468880"/>
          </a:xfrm>
          <a:prstGeom prst="roundRect">
            <a:avLst>
              <a:gd name="adj" fmla="val 4920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Pre-production validation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Security + reliability + fairness + safety + human oversight testing</a:t>
            </a:r>
            <a:endParaRPr lang="en-US" sz="1400" dirty="0"/>
          </a:p>
        </p:txBody>
      </p:sp>
      <p:sp>
        <p:nvSpPr>
          <p:cNvPr id="12" name="Number 170"/>
          <p:cNvSpPr txBox="1"/>
          <p:nvPr/>
        </p:nvSpPr>
        <p:spPr>
          <a:xfrm>
            <a:off x="7449617" y="16002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3" name="Stage card 171"/>
          <p:cNvSpPr txBox="1"/>
          <p:nvPr/>
        </p:nvSpPr>
        <p:spPr>
          <a:xfrm>
            <a:off x="6934810" y="2423160"/>
            <a:ext cx="1486814" cy="2468880"/>
          </a:xfrm>
          <a:prstGeom prst="roundRect">
            <a:avLst>
              <a:gd name="adj" fmla="val 4920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Production approval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 evidence reviewed</a:t>
            </a:r>
            <a:endParaRPr lang="en-US" sz="1400" dirty="0"/>
          </a:p>
        </p:txBody>
      </p:sp>
      <p:sp>
        <p:nvSpPr>
          <p:cNvPr id="14" name="Number 172"/>
          <p:cNvSpPr txBox="1"/>
          <p:nvPr/>
        </p:nvSpPr>
        <p:spPr>
          <a:xfrm>
            <a:off x="9046159" y="16002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5" name="Stage card 173"/>
          <p:cNvSpPr txBox="1"/>
          <p:nvPr/>
        </p:nvSpPr>
        <p:spPr>
          <a:xfrm>
            <a:off x="8531352" y="2423160"/>
            <a:ext cx="1486814" cy="2468880"/>
          </a:xfrm>
          <a:prstGeom prst="roundRect">
            <a:avLst>
              <a:gd name="adj" fmla="val 4920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Continuous monitoring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Performance + incidents + emerging risks</a:t>
            </a:r>
            <a:endParaRPr lang="en-US" sz="1400" dirty="0"/>
          </a:p>
        </p:txBody>
      </p:sp>
      <p:sp>
        <p:nvSpPr>
          <p:cNvPr id="16" name="Number 174"/>
          <p:cNvSpPr txBox="1"/>
          <p:nvPr/>
        </p:nvSpPr>
        <p:spPr>
          <a:xfrm>
            <a:off x="10642702" y="16002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17" name="Stage card 175"/>
          <p:cNvSpPr txBox="1"/>
          <p:nvPr/>
        </p:nvSpPr>
        <p:spPr>
          <a:xfrm>
            <a:off x="10127894" y="2423160"/>
            <a:ext cx="1486814" cy="2468880"/>
          </a:xfrm>
          <a:prstGeom prst="roundRect">
            <a:avLst>
              <a:gd name="adj" fmla="val 4920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Material change / retirement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Risk reassessment and updated controls</a:t>
            </a:r>
            <a:endParaRPr lang="en-US" sz="1400" dirty="0"/>
          </a:p>
        </p:txBody>
      </p:sp>
      <p:sp>
        <p:nvSpPr>
          <p:cNvPr id="18" name="Gates band"/>
          <p:cNvSpPr/>
          <p:nvPr/>
        </p:nvSpPr>
        <p:spPr>
          <a:xfrm>
            <a:off x="548640" y="5303520"/>
            <a:ext cx="11091672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9" name="Gates text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This creates governance gates rather than a one-time compliance review.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Control Effectiveness &amp; Residual Risk</a:t>
            </a:r>
            <a:endParaRPr lang="en-US" sz="3600" dirty="0"/>
          </a:p>
        </p:txBody>
      </p:sp>
      <p:sp>
        <p:nvSpPr>
          <p:cNvPr id="3" name="Label 176"/>
          <p:cNvSpPr txBox="1"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FOR EVERY IMPORTANT CONTROL</a:t>
            </a:r>
            <a:endParaRPr lang="en-US" sz="1200" dirty="0"/>
          </a:p>
        </p:txBody>
      </p:sp>
      <p:sp>
        <p:nvSpPr>
          <p:cNvPr id="4" name="Pill 177"/>
          <p:cNvSpPr txBox="1"/>
          <p:nvPr/>
        </p:nvSpPr>
        <p:spPr>
          <a:xfrm>
            <a:off x="548640" y="1554480"/>
            <a:ext cx="155448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</a:t>
            </a:r>
            <a:endParaRPr lang="en-US" sz="1400" dirty="0"/>
          </a:p>
        </p:txBody>
      </p:sp>
      <p:sp>
        <p:nvSpPr>
          <p:cNvPr id="5" name="Pill 178"/>
          <p:cNvSpPr txBox="1"/>
          <p:nvPr/>
        </p:nvSpPr>
        <p:spPr>
          <a:xfrm>
            <a:off x="2194560" y="1554480"/>
            <a:ext cx="42062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must be implemented?</a:t>
            </a:r>
            <a:endParaRPr lang="en-US" sz="1400" dirty="0"/>
          </a:p>
        </p:txBody>
      </p:sp>
      <p:sp>
        <p:nvSpPr>
          <p:cNvPr id="6" name="Pill 179"/>
          <p:cNvSpPr txBox="1"/>
          <p:nvPr/>
        </p:nvSpPr>
        <p:spPr>
          <a:xfrm>
            <a:off x="548640" y="2194560"/>
            <a:ext cx="155448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Test</a:t>
            </a:r>
            <a:endParaRPr lang="en-US" sz="1400" dirty="0"/>
          </a:p>
        </p:txBody>
      </p:sp>
      <p:sp>
        <p:nvSpPr>
          <p:cNvPr id="7" name="Pill 180"/>
          <p:cNvSpPr txBox="1"/>
          <p:nvPr/>
        </p:nvSpPr>
        <p:spPr>
          <a:xfrm>
            <a:off x="2194560" y="2194560"/>
            <a:ext cx="42062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do we verify it works?</a:t>
            </a:r>
            <a:endParaRPr lang="en-US" sz="1400" dirty="0"/>
          </a:p>
        </p:txBody>
      </p:sp>
      <p:sp>
        <p:nvSpPr>
          <p:cNvPr id="8" name="Pill 181"/>
          <p:cNvSpPr txBox="1"/>
          <p:nvPr/>
        </p:nvSpPr>
        <p:spPr>
          <a:xfrm>
            <a:off x="548640" y="2834640"/>
            <a:ext cx="155448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Metric / Threshold</a:t>
            </a:r>
            <a:endParaRPr lang="en-US" sz="1400" dirty="0"/>
          </a:p>
        </p:txBody>
      </p:sp>
      <p:sp>
        <p:nvSpPr>
          <p:cNvPr id="9" name="Pill 182"/>
          <p:cNvSpPr txBox="1"/>
          <p:nvPr/>
        </p:nvSpPr>
        <p:spPr>
          <a:xfrm>
            <a:off x="2194560" y="2834640"/>
            <a:ext cx="42062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constitutes acceptable performance?</a:t>
            </a:r>
            <a:endParaRPr lang="en-US" sz="1400" dirty="0"/>
          </a:p>
        </p:txBody>
      </p:sp>
      <p:sp>
        <p:nvSpPr>
          <p:cNvPr id="10" name="Pill 183"/>
          <p:cNvSpPr txBox="1"/>
          <p:nvPr/>
        </p:nvSpPr>
        <p:spPr>
          <a:xfrm>
            <a:off x="548640" y="3474720"/>
            <a:ext cx="155448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Evidence</a:t>
            </a:r>
            <a:endParaRPr lang="en-US" sz="1400" dirty="0"/>
          </a:p>
        </p:txBody>
      </p:sp>
      <p:sp>
        <p:nvSpPr>
          <p:cNvPr id="11" name="Pill 184"/>
          <p:cNvSpPr txBox="1"/>
          <p:nvPr/>
        </p:nvSpPr>
        <p:spPr>
          <a:xfrm>
            <a:off x="2194560" y="3474720"/>
            <a:ext cx="42062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proves the control operated?</a:t>
            </a:r>
            <a:endParaRPr lang="en-US" sz="1400" dirty="0"/>
          </a:p>
        </p:txBody>
      </p:sp>
      <p:sp>
        <p:nvSpPr>
          <p:cNvPr id="12" name="Pill 185"/>
          <p:cNvSpPr txBox="1"/>
          <p:nvPr/>
        </p:nvSpPr>
        <p:spPr>
          <a:xfrm>
            <a:off x="548640" y="4114800"/>
            <a:ext cx="155448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Action</a:t>
            </a:r>
            <a:endParaRPr lang="en-US" sz="1400" dirty="0"/>
          </a:p>
        </p:txBody>
      </p:sp>
      <p:sp>
        <p:nvSpPr>
          <p:cNvPr id="13" name="Pill 186"/>
          <p:cNvSpPr txBox="1"/>
          <p:nvPr/>
        </p:nvSpPr>
        <p:spPr>
          <a:xfrm>
            <a:off x="2194560" y="4114800"/>
            <a:ext cx="42062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happens if the threshold is breached?</a:t>
            </a:r>
            <a:endParaRPr lang="en-US" sz="1400" dirty="0"/>
          </a:p>
        </p:txBody>
      </p:sp>
      <p:sp>
        <p:nvSpPr>
          <p:cNvPr id="14" name="Example card"/>
          <p:cNvSpPr/>
          <p:nvPr/>
        </p:nvSpPr>
        <p:spPr>
          <a:xfrm>
            <a:off x="6675120" y="1188720"/>
            <a:ext cx="4965192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Label 187"/>
          <p:cNvSpPr txBox="1"/>
          <p:nvPr/>
        </p:nvSpPr>
        <p:spPr>
          <a:xfrm>
            <a:off x="69494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EXAMPLE</a:t>
            </a:r>
            <a:endParaRPr lang="en-US" sz="1200" dirty="0"/>
          </a:p>
        </p:txBody>
      </p:sp>
      <p:sp>
        <p:nvSpPr>
          <p:cNvPr id="16" name="Example key 188"/>
          <p:cNvSpPr txBox="1"/>
          <p:nvPr/>
        </p:nvSpPr>
        <p:spPr>
          <a:xfrm>
            <a:off x="6949440" y="16916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Control</a:t>
            </a:r>
            <a:endParaRPr lang="en-US" sz="1400" dirty="0"/>
          </a:p>
        </p:txBody>
      </p:sp>
      <p:sp>
        <p:nvSpPr>
          <p:cNvPr id="17" name="Example value 189"/>
          <p:cNvSpPr txBox="1"/>
          <p:nvPr/>
        </p:nvSpPr>
        <p:spPr>
          <a:xfrm>
            <a:off x="8138160" y="16916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GenAI output monitoring</a:t>
            </a:r>
            <a:endParaRPr lang="en-US" sz="1400" dirty="0"/>
          </a:p>
        </p:txBody>
      </p:sp>
      <p:sp>
        <p:nvSpPr>
          <p:cNvPr id="18" name="Example key 190"/>
          <p:cNvSpPr txBox="1"/>
          <p:nvPr/>
        </p:nvSpPr>
        <p:spPr>
          <a:xfrm>
            <a:off x="6949440" y="218541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Test</a:t>
            </a:r>
            <a:endParaRPr lang="en-US" sz="1400" dirty="0"/>
          </a:p>
        </p:txBody>
      </p:sp>
      <p:sp>
        <p:nvSpPr>
          <p:cNvPr id="19" name="Example value 191"/>
          <p:cNvSpPr txBox="1"/>
          <p:nvPr/>
        </p:nvSpPr>
        <p:spPr>
          <a:xfrm>
            <a:off x="8138160" y="218541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Periodic evaluation against a defined test dataset</a:t>
            </a:r>
            <a:endParaRPr lang="en-US" sz="1400" dirty="0"/>
          </a:p>
        </p:txBody>
      </p:sp>
      <p:sp>
        <p:nvSpPr>
          <p:cNvPr id="20" name="Example key 192"/>
          <p:cNvSpPr txBox="1"/>
          <p:nvPr/>
        </p:nvSpPr>
        <p:spPr>
          <a:xfrm>
            <a:off x="6949440" y="26791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Metric</a:t>
            </a:r>
            <a:endParaRPr lang="en-US" sz="1400" dirty="0"/>
          </a:p>
        </p:txBody>
      </p:sp>
      <p:sp>
        <p:nvSpPr>
          <p:cNvPr id="21" name="Example value 193"/>
          <p:cNvSpPr txBox="1"/>
          <p:nvPr/>
        </p:nvSpPr>
        <p:spPr>
          <a:xfrm>
            <a:off x="8138160" y="26791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Error/hallucination rate</a:t>
            </a:r>
            <a:endParaRPr lang="en-US" sz="1400" dirty="0"/>
          </a:p>
        </p:txBody>
      </p:sp>
      <p:sp>
        <p:nvSpPr>
          <p:cNvPr id="22" name="Example key 194"/>
          <p:cNvSpPr txBox="1"/>
          <p:nvPr/>
        </p:nvSpPr>
        <p:spPr>
          <a:xfrm>
            <a:off x="6949440" y="31729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Threshold</a:t>
            </a:r>
            <a:endParaRPr lang="en-US" sz="1400" dirty="0"/>
          </a:p>
        </p:txBody>
      </p:sp>
      <p:sp>
        <p:nvSpPr>
          <p:cNvPr id="23" name="Example value 195"/>
          <p:cNvSpPr txBox="1"/>
          <p:nvPr/>
        </p:nvSpPr>
        <p:spPr>
          <a:xfrm>
            <a:off x="8138160" y="3172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Predefined acceptable level</a:t>
            </a:r>
            <a:endParaRPr lang="en-US" sz="1400" dirty="0"/>
          </a:p>
        </p:txBody>
      </p:sp>
      <p:sp>
        <p:nvSpPr>
          <p:cNvPr id="24" name="Example key 196"/>
          <p:cNvSpPr txBox="1"/>
          <p:nvPr/>
        </p:nvSpPr>
        <p:spPr>
          <a:xfrm>
            <a:off x="6949440" y="366674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Evidence</a:t>
            </a:r>
            <a:endParaRPr lang="en-US" sz="1400" dirty="0"/>
          </a:p>
        </p:txBody>
      </p:sp>
      <p:sp>
        <p:nvSpPr>
          <p:cNvPr id="25" name="Example value 197"/>
          <p:cNvSpPr txBox="1"/>
          <p:nvPr/>
        </p:nvSpPr>
        <p:spPr>
          <a:xfrm>
            <a:off x="8138160" y="366674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Evaluation results and monitoring logs</a:t>
            </a:r>
            <a:endParaRPr lang="en-US" sz="1400" dirty="0"/>
          </a:p>
        </p:txBody>
      </p:sp>
      <p:sp>
        <p:nvSpPr>
          <p:cNvPr id="26" name="Example key 198"/>
          <p:cNvSpPr txBox="1"/>
          <p:nvPr/>
        </p:nvSpPr>
        <p:spPr>
          <a:xfrm>
            <a:off x="694944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Action</a:t>
            </a:r>
            <a:endParaRPr lang="en-US" sz="1400" dirty="0"/>
          </a:p>
        </p:txBody>
      </p:sp>
      <p:sp>
        <p:nvSpPr>
          <p:cNvPr id="27" name="Example value 199"/>
          <p:cNvSpPr txBox="1"/>
          <p:nvPr/>
        </p:nvSpPr>
        <p:spPr>
          <a:xfrm>
            <a:off x="8138160" y="4160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Investigation, remediation and escalation</a:t>
            </a:r>
            <a:endParaRPr lang="en-US" sz="1400" dirty="0"/>
          </a:p>
        </p:txBody>
      </p:sp>
      <p:sp>
        <p:nvSpPr>
          <p:cNvPr id="28" name="Label 200"/>
          <p:cNvSpPr txBox="1"/>
          <p:nvPr/>
        </p:nvSpPr>
        <p:spPr>
          <a:xfrm>
            <a:off x="548640" y="4937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IF A REQUIRED CONTROL CANNOT BE IMPLEMENTED</a:t>
            </a:r>
            <a:endParaRPr lang="en-US" sz="1200" dirty="0"/>
          </a:p>
        </p:txBody>
      </p:sp>
      <p:sp>
        <p:nvSpPr>
          <p:cNvPr id="29" name="Pill 201"/>
          <p:cNvSpPr txBox="1"/>
          <p:nvPr/>
        </p:nvSpPr>
        <p:spPr>
          <a:xfrm>
            <a:off x="548640" y="5285232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gap</a:t>
            </a:r>
            <a:endParaRPr lang="en-US" sz="1400" dirty="0"/>
          </a:p>
        </p:txBody>
      </p:sp>
      <p:sp>
        <p:nvSpPr>
          <p:cNvPr id="30" name="Arrow 202"/>
          <p:cNvSpPr/>
          <p:nvPr/>
        </p:nvSpPr>
        <p:spPr>
          <a:xfrm>
            <a:off x="2350008" y="5513832"/>
            <a:ext cx="23774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1" name="Pill 203"/>
          <p:cNvSpPr txBox="1"/>
          <p:nvPr/>
        </p:nvSpPr>
        <p:spPr>
          <a:xfrm>
            <a:off x="2651760" y="5285232"/>
            <a:ext cx="237744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Residual risk assessment</a:t>
            </a:r>
            <a:endParaRPr lang="en-US" sz="1400" dirty="0"/>
          </a:p>
        </p:txBody>
      </p:sp>
      <p:sp>
        <p:nvSpPr>
          <p:cNvPr id="32" name="Arrow 204"/>
          <p:cNvSpPr/>
          <p:nvPr/>
        </p:nvSpPr>
        <p:spPr>
          <a:xfrm>
            <a:off x="5093208" y="5513832"/>
            <a:ext cx="23774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3" name="Pill 205"/>
          <p:cNvSpPr txBox="1"/>
          <p:nvPr/>
        </p:nvSpPr>
        <p:spPr>
          <a:xfrm>
            <a:off x="5394960" y="5285232"/>
            <a:ext cx="219456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Compensating control</a:t>
            </a:r>
            <a:endParaRPr lang="en-US" sz="1400" dirty="0"/>
          </a:p>
        </p:txBody>
      </p:sp>
      <p:sp>
        <p:nvSpPr>
          <p:cNvPr id="34" name="Arrow 206"/>
          <p:cNvSpPr/>
          <p:nvPr/>
        </p:nvSpPr>
        <p:spPr>
          <a:xfrm>
            <a:off x="7653528" y="5513832"/>
            <a:ext cx="23774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5" name="Pill 207"/>
          <p:cNvSpPr txBox="1"/>
          <p:nvPr/>
        </p:nvSpPr>
        <p:spPr>
          <a:xfrm>
            <a:off x="7955280" y="5285232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Risk acceptance</a:t>
            </a:r>
            <a:endParaRPr lang="en-US" sz="1400" dirty="0"/>
          </a:p>
        </p:txBody>
      </p:sp>
      <p:sp>
        <p:nvSpPr>
          <p:cNvPr id="36" name="Arrow 208"/>
          <p:cNvSpPr/>
          <p:nvPr/>
        </p:nvSpPr>
        <p:spPr>
          <a:xfrm>
            <a:off x="9848088" y="5513832"/>
            <a:ext cx="23774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7" name="Pill 209"/>
          <p:cNvSpPr txBox="1"/>
          <p:nvPr/>
        </p:nvSpPr>
        <p:spPr>
          <a:xfrm>
            <a:off x="10149840" y="5285232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Review date</a:t>
            </a:r>
            <a:endParaRPr lang="en-US" sz="1400" dirty="0"/>
          </a:p>
        </p:txBody>
      </p:sp>
      <p:sp>
        <p:nvSpPr>
          <p:cNvPr id="38" name="Residual risk takeaway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This ensures that unresolved risks become explicit management decisions rather than hidden technical debt.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My Governance Operating Model</a:t>
            </a:r>
            <a:endParaRPr lang="en-US" sz="4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From Framework to Engineering</a:t>
            </a:r>
            <a:endParaRPr lang="en-US" sz="1800" dirty="0"/>
          </a:p>
        </p:txBody>
      </p:sp>
      <p:sp>
        <p:nvSpPr>
          <p:cNvPr id="4" name="Step card 210"/>
          <p:cNvSpPr/>
          <p:nvPr/>
        </p:nvSpPr>
        <p:spPr>
          <a:xfrm>
            <a:off x="548640" y="1828800"/>
            <a:ext cx="199339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Number 211"/>
          <p:cNvSpPr txBox="1"/>
          <p:nvPr/>
        </p:nvSpPr>
        <p:spPr>
          <a:xfrm>
            <a:off x="658368" y="2103120"/>
            <a:ext cx="320040" cy="3200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Step text 212"/>
          <p:cNvSpPr txBox="1"/>
          <p:nvPr/>
        </p:nvSpPr>
        <p:spPr>
          <a:xfrm>
            <a:off x="1060704" y="18745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NIST AI RMF + EU AI Act</a:t>
            </a:r>
            <a:endParaRPr lang="en-US" sz="1400" dirty="0"/>
          </a:p>
        </p:txBody>
      </p:sp>
      <p:sp>
        <p:nvSpPr>
          <p:cNvPr id="7" name="Arrow 213"/>
          <p:cNvSpPr/>
          <p:nvPr/>
        </p:nvSpPr>
        <p:spPr>
          <a:xfrm>
            <a:off x="2569464" y="2263140"/>
            <a:ext cx="219456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Step card 214"/>
          <p:cNvSpPr/>
          <p:nvPr/>
        </p:nvSpPr>
        <p:spPr>
          <a:xfrm>
            <a:off x="2816352" y="1828800"/>
            <a:ext cx="199339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9" name="Number 215"/>
          <p:cNvSpPr txBox="1"/>
          <p:nvPr/>
        </p:nvSpPr>
        <p:spPr>
          <a:xfrm>
            <a:off x="2926080" y="2103120"/>
            <a:ext cx="320040" cy="3200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tep text 216"/>
          <p:cNvSpPr txBox="1"/>
          <p:nvPr/>
        </p:nvSpPr>
        <p:spPr>
          <a:xfrm>
            <a:off x="3328416" y="18745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Use-case risk assessment</a:t>
            </a:r>
            <a:endParaRPr lang="en-US" sz="1400" dirty="0"/>
          </a:p>
        </p:txBody>
      </p:sp>
      <p:sp>
        <p:nvSpPr>
          <p:cNvPr id="11" name="Arrow 217"/>
          <p:cNvSpPr/>
          <p:nvPr/>
        </p:nvSpPr>
        <p:spPr>
          <a:xfrm>
            <a:off x="4837176" y="2263140"/>
            <a:ext cx="219456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Step card 218"/>
          <p:cNvSpPr/>
          <p:nvPr/>
        </p:nvSpPr>
        <p:spPr>
          <a:xfrm>
            <a:off x="5084064" y="1828800"/>
            <a:ext cx="199339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3" name="Number 219"/>
          <p:cNvSpPr txBox="1"/>
          <p:nvPr/>
        </p:nvSpPr>
        <p:spPr>
          <a:xfrm>
            <a:off x="5193792" y="2103120"/>
            <a:ext cx="320040" cy="3200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Step text 220"/>
          <p:cNvSpPr txBox="1"/>
          <p:nvPr/>
        </p:nvSpPr>
        <p:spPr>
          <a:xfrm>
            <a:off x="5596128" y="18745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library</a:t>
            </a:r>
            <a:endParaRPr lang="en-US" sz="1400" dirty="0"/>
          </a:p>
        </p:txBody>
      </p:sp>
      <p:sp>
        <p:nvSpPr>
          <p:cNvPr id="15" name="Arrow 221"/>
          <p:cNvSpPr/>
          <p:nvPr/>
        </p:nvSpPr>
        <p:spPr>
          <a:xfrm>
            <a:off x="7104888" y="2263140"/>
            <a:ext cx="219456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Step card 222"/>
          <p:cNvSpPr/>
          <p:nvPr/>
        </p:nvSpPr>
        <p:spPr>
          <a:xfrm>
            <a:off x="7351776" y="1828800"/>
            <a:ext cx="199339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7" name="Number 223"/>
          <p:cNvSpPr txBox="1"/>
          <p:nvPr/>
        </p:nvSpPr>
        <p:spPr>
          <a:xfrm>
            <a:off x="7461504" y="2103120"/>
            <a:ext cx="320040" cy="3200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Step text 224"/>
          <p:cNvSpPr txBox="1"/>
          <p:nvPr/>
        </p:nvSpPr>
        <p:spPr>
          <a:xfrm>
            <a:off x="7863840" y="18745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Traceability matrix</a:t>
            </a:r>
            <a:endParaRPr lang="en-US" sz="1400" dirty="0"/>
          </a:p>
        </p:txBody>
      </p:sp>
      <p:sp>
        <p:nvSpPr>
          <p:cNvPr id="19" name="Arrow 225"/>
          <p:cNvSpPr/>
          <p:nvPr/>
        </p:nvSpPr>
        <p:spPr>
          <a:xfrm>
            <a:off x="9372600" y="2263140"/>
            <a:ext cx="219456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Step card 226"/>
          <p:cNvSpPr/>
          <p:nvPr/>
        </p:nvSpPr>
        <p:spPr>
          <a:xfrm>
            <a:off x="9619488" y="1828800"/>
            <a:ext cx="199339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1" name="Number 227"/>
          <p:cNvSpPr txBox="1"/>
          <p:nvPr/>
        </p:nvSpPr>
        <p:spPr>
          <a:xfrm>
            <a:off x="9729216" y="2103120"/>
            <a:ext cx="320040" cy="3200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Step text 228"/>
          <p:cNvSpPr txBox="1"/>
          <p:nvPr/>
        </p:nvSpPr>
        <p:spPr>
          <a:xfrm>
            <a:off x="10131552" y="18745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Architecture standards</a:t>
            </a:r>
            <a:endParaRPr lang="en-US" sz="1400" dirty="0"/>
          </a:p>
        </p:txBody>
      </p:sp>
      <p:sp>
        <p:nvSpPr>
          <p:cNvPr id="23" name="Step card 229"/>
          <p:cNvSpPr/>
          <p:nvPr/>
        </p:nvSpPr>
        <p:spPr>
          <a:xfrm>
            <a:off x="9619488" y="3017520"/>
            <a:ext cx="199339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4" name="Number 230"/>
          <p:cNvSpPr txBox="1"/>
          <p:nvPr/>
        </p:nvSpPr>
        <p:spPr>
          <a:xfrm>
            <a:off x="9729216" y="3291840"/>
            <a:ext cx="320040" cy="3200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Step text 231"/>
          <p:cNvSpPr txBox="1"/>
          <p:nvPr/>
        </p:nvSpPr>
        <p:spPr>
          <a:xfrm>
            <a:off x="10131552" y="3063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Engineering implementation</a:t>
            </a:r>
            <a:endParaRPr lang="en-US" sz="1400" dirty="0"/>
          </a:p>
        </p:txBody>
      </p:sp>
      <p:sp>
        <p:nvSpPr>
          <p:cNvPr id="26" name="Arrow 232"/>
          <p:cNvSpPr/>
          <p:nvPr/>
        </p:nvSpPr>
        <p:spPr>
          <a:xfrm>
            <a:off x="9592056" y="3451860"/>
            <a:ext cx="-219456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Step card 233"/>
          <p:cNvSpPr/>
          <p:nvPr/>
        </p:nvSpPr>
        <p:spPr>
          <a:xfrm>
            <a:off x="7351776" y="3017520"/>
            <a:ext cx="199339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8" name="Number 234"/>
          <p:cNvSpPr txBox="1"/>
          <p:nvPr/>
        </p:nvSpPr>
        <p:spPr>
          <a:xfrm>
            <a:off x="7461504" y="3291840"/>
            <a:ext cx="320040" cy="3200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29" name="Step text 235"/>
          <p:cNvSpPr txBox="1"/>
          <p:nvPr/>
        </p:nvSpPr>
        <p:spPr>
          <a:xfrm>
            <a:off x="7863840" y="3063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Automated &amp; manual control testing</a:t>
            </a:r>
            <a:endParaRPr lang="en-US" sz="1400" dirty="0"/>
          </a:p>
        </p:txBody>
      </p:sp>
      <p:sp>
        <p:nvSpPr>
          <p:cNvPr id="30" name="Arrow 236"/>
          <p:cNvSpPr/>
          <p:nvPr/>
        </p:nvSpPr>
        <p:spPr>
          <a:xfrm>
            <a:off x="7324344" y="3451860"/>
            <a:ext cx="-219456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1" name="Step card 237"/>
          <p:cNvSpPr/>
          <p:nvPr/>
        </p:nvSpPr>
        <p:spPr>
          <a:xfrm>
            <a:off x="5084064" y="3017520"/>
            <a:ext cx="199339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2" name="Number 238"/>
          <p:cNvSpPr txBox="1"/>
          <p:nvPr/>
        </p:nvSpPr>
        <p:spPr>
          <a:xfrm>
            <a:off x="5193792" y="3291840"/>
            <a:ext cx="320040" cy="3200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</a:t>
            </a:r>
            <a:endParaRPr lang="en-US" sz="1200" dirty="0"/>
          </a:p>
        </p:txBody>
      </p:sp>
      <p:sp>
        <p:nvSpPr>
          <p:cNvPr id="33" name="Step text 239"/>
          <p:cNvSpPr txBox="1"/>
          <p:nvPr/>
        </p:nvSpPr>
        <p:spPr>
          <a:xfrm>
            <a:off x="5596128" y="3063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Evidence &amp; auditability</a:t>
            </a:r>
            <a:endParaRPr lang="en-US" sz="1400" dirty="0"/>
          </a:p>
        </p:txBody>
      </p:sp>
      <p:sp>
        <p:nvSpPr>
          <p:cNvPr id="34" name="Arrow 240"/>
          <p:cNvSpPr/>
          <p:nvPr/>
        </p:nvSpPr>
        <p:spPr>
          <a:xfrm>
            <a:off x="5056632" y="3451860"/>
            <a:ext cx="-219456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5" name="Step card 241"/>
          <p:cNvSpPr/>
          <p:nvPr/>
        </p:nvSpPr>
        <p:spPr>
          <a:xfrm>
            <a:off x="2816352" y="3017520"/>
            <a:ext cx="199339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6" name="Number 242"/>
          <p:cNvSpPr txBox="1"/>
          <p:nvPr/>
        </p:nvSpPr>
        <p:spPr>
          <a:xfrm>
            <a:off x="2926080" y="3291840"/>
            <a:ext cx="320040" cy="3200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</a:t>
            </a:r>
            <a:endParaRPr lang="en-US" sz="1200" dirty="0"/>
          </a:p>
        </p:txBody>
      </p:sp>
      <p:sp>
        <p:nvSpPr>
          <p:cNvPr id="37" name="Step text 243"/>
          <p:cNvSpPr txBox="1"/>
          <p:nvPr/>
        </p:nvSpPr>
        <p:spPr>
          <a:xfrm>
            <a:off x="3328416" y="3063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Governance gates</a:t>
            </a:r>
            <a:endParaRPr lang="en-US" sz="1400" dirty="0"/>
          </a:p>
        </p:txBody>
      </p:sp>
      <p:sp>
        <p:nvSpPr>
          <p:cNvPr id="38" name="Arrow 244"/>
          <p:cNvSpPr/>
          <p:nvPr/>
        </p:nvSpPr>
        <p:spPr>
          <a:xfrm>
            <a:off x="2788920" y="3451860"/>
            <a:ext cx="-219456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9" name="Step card 245"/>
          <p:cNvSpPr/>
          <p:nvPr/>
        </p:nvSpPr>
        <p:spPr>
          <a:xfrm>
            <a:off x="548640" y="3017520"/>
            <a:ext cx="199339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0" name="Number 246"/>
          <p:cNvSpPr txBox="1"/>
          <p:nvPr/>
        </p:nvSpPr>
        <p:spPr>
          <a:xfrm>
            <a:off x="658368" y="3291840"/>
            <a:ext cx="320040" cy="3200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</a:t>
            </a:r>
            <a:endParaRPr lang="en-US" sz="1200" dirty="0"/>
          </a:p>
        </p:txBody>
      </p:sp>
      <p:sp>
        <p:nvSpPr>
          <p:cNvPr id="41" name="Step text 247"/>
          <p:cNvSpPr txBox="1"/>
          <p:nvPr/>
        </p:nvSpPr>
        <p:spPr>
          <a:xfrm>
            <a:off x="1060704" y="3063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Continuous monitoring &amp; improvement</a:t>
            </a:r>
            <a:endParaRPr lang="en-US" sz="1400" dirty="0"/>
          </a:p>
        </p:txBody>
      </p:sp>
      <p:sp>
        <p:nvSpPr>
          <p:cNvPr id="42" name="Arrow 248"/>
          <p:cNvSpPr/>
          <p:nvPr/>
        </p:nvSpPr>
        <p:spPr>
          <a:xfrm>
            <a:off x="10616184" y="2724912"/>
            <a:ext cx="0" cy="265176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3" name="Label 249"/>
          <p:cNvSpPr txBox="1"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MY OBJECTIVE</a:t>
            </a:r>
            <a:endParaRPr lang="en-US" sz="1200" dirty="0"/>
          </a:p>
        </p:txBody>
      </p:sp>
      <p:sp>
        <p:nvSpPr>
          <p:cNvPr id="44" name="Objective"/>
          <p:cNvSpPr txBox="1"/>
          <p:nvPr/>
        </p:nvSpPr>
        <p:spPr>
          <a:xfrm>
            <a:off x="548640" y="4526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To make AI governance actionable for engineering teams by translating principles into measurable, testable and owned controls across the AI lifecycle.</a:t>
            </a:r>
            <a:endParaRPr lang="en-US" sz="2000" dirty="0"/>
          </a:p>
        </p:txBody>
      </p:sp>
      <p:sp>
        <p:nvSpPr>
          <p:cNvPr id="45" name="Closing line"/>
          <p:cNvSpPr txBox="1"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2"/>
                </a:solidFill>
              </a:rPr>
              <a:t>Good AI governance should enable informed risk decisions, not simply create more documentation.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vernance Petrol">
  <a:themeElements>
    <a:clrScheme name="Governance Petrol">
      <a:dk1>
        <a:srgbClr val="10252A"/>
      </a:dk1>
      <a:lt1>
        <a:srgbClr val="FFFFFF"/>
      </a:lt1>
      <a:dk2>
        <a:srgbClr val="1B4B52"/>
      </a:dk2>
      <a:lt2>
        <a:srgbClr val="EAF3F2"/>
      </a:lt2>
      <a:accent1>
        <a:srgbClr val="1F7A7A"/>
      </a:accent1>
      <a:accent2>
        <a:srgbClr val="F2A33A"/>
      </a:accent2>
      <a:accent3>
        <a:srgbClr val="5FB3A9"/>
      </a:accent3>
      <a:accent4>
        <a:srgbClr val="B85C38"/>
      </a:accent4>
      <a:accent5>
        <a:srgbClr val="5E7279"/>
      </a:accent5>
      <a:accent6>
        <a:srgbClr val="2E9E8F"/>
      </a:accent6>
      <a:hlink>
        <a:srgbClr val="1F7A7A"/>
      </a:hlink>
      <a:folHlink>
        <a:srgbClr val="5E7279"/>
      </a:folHlink>
    </a:clrScheme>
    <a:fontScheme name="Governance Petro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AI Governance Principles to Engineering Controls</dc:title>
  <dc:subject>PptxGenJS Presentation</dc:subject>
  <dc:creator>PptxGenJS</dc:creator>
  <cp:lastModifiedBy>PptxGenJS</cp:lastModifiedBy>
  <cp:revision>1</cp:revision>
  <dcterms:created xsi:type="dcterms:W3CDTF">2026-10-08T10:50:19Z</dcterms:created>
  <dcterms:modified xsi:type="dcterms:W3CDTF">2026-10-08T10:50:19Z</dcterms:modified>
</cp:coreProperties>
</file>